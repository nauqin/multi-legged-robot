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50" r:id="rId1"/>
    <p:sldMasterId id="2147483663" r:id="rId2"/>
  </p:sldMasterIdLst>
  <p:notesMasterIdLst>
    <p:notesMasterId r:id="rId21"/>
  </p:notesMasterIdLst>
  <p:handoutMasterIdLst>
    <p:handoutMasterId r:id="rId22"/>
  </p:handoutMasterIdLst>
  <p:sldIdLst>
    <p:sldId id="256" r:id="rId3"/>
    <p:sldId id="293" r:id="rId4"/>
    <p:sldId id="294" r:id="rId5"/>
    <p:sldId id="298" r:id="rId6"/>
    <p:sldId id="303" r:id="rId7"/>
    <p:sldId id="295" r:id="rId8"/>
    <p:sldId id="296" r:id="rId9"/>
    <p:sldId id="297" r:id="rId10"/>
    <p:sldId id="299" r:id="rId11"/>
    <p:sldId id="300" r:id="rId12"/>
    <p:sldId id="301" r:id="rId13"/>
    <p:sldId id="302" r:id="rId14"/>
    <p:sldId id="309" r:id="rId15"/>
    <p:sldId id="304" r:id="rId16"/>
    <p:sldId id="305" r:id="rId17"/>
    <p:sldId id="306" r:id="rId18"/>
    <p:sldId id="307" r:id="rId19"/>
    <p:sldId id="308" r:id="rId20"/>
  </p:sldIdLst>
  <p:sldSz cx="12192000" cy="6858000"/>
  <p:notesSz cx="6858000" cy="9144000"/>
  <p:embeddedFontLst>
    <p:embeddedFont>
      <p:font typeface="Noto Sans KR" panose="020B0200000000000000" pitchFamily="50" charset="-127"/>
      <p:regular r:id="rId23"/>
      <p:bold r:id="rId24"/>
    </p:embeddedFont>
    <p:embeddedFont>
      <p:font typeface="프리젠테이션 4 Regular" pitchFamily="2" charset="-127"/>
      <p:regular r:id="rId25"/>
    </p:embeddedFont>
    <p:embeddedFont>
      <p:font typeface="프리젠테이션 4 Regular" pitchFamily="2" charset="-127"/>
      <p:regular r:id="rId25"/>
    </p:embeddedFont>
    <p:embeddedFont>
      <p:font typeface="프리젠테이션 5 Medium" pitchFamily="2" charset="-127"/>
      <p:regular r:id="rId26"/>
    </p:embeddedFont>
    <p:embeddedFont>
      <p:font typeface="프리젠테이션 5 Medium" pitchFamily="2" charset="-127"/>
      <p:regular r:id="rId26"/>
    </p:embeddedFont>
    <p:embeddedFont>
      <p:font typeface="프리젠테이션 6 SemiBold" pitchFamily="2" charset="-127"/>
      <p:regular r:id="rId27"/>
      <p:bold r:id="rId28"/>
    </p:embeddedFont>
    <p:embeddedFont>
      <p:font typeface="프리젠테이션 6 SemiBold" pitchFamily="2" charset="-127"/>
      <p:regular r:id="rId27"/>
      <p:bold r:id="rId28"/>
    </p:embeddedFont>
    <p:embeddedFont>
      <p:font typeface="프리젠테이션 7 Bold" pitchFamily="2" charset="-127"/>
      <p:bold r:id="rId29"/>
    </p:embeddedFont>
    <p:embeddedFont>
      <p:font typeface="프리젠테이션 7 Bold" pitchFamily="2" charset="-127"/>
      <p:bold r:id="rId29"/>
    </p:embeddedFont>
    <p:embeddedFont>
      <p:font typeface="프리젠테이션 8 ExtraBold" pitchFamily="2" charset="-127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1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82283A"/>
    <a:srgbClr val="B0102E"/>
    <a:srgbClr val="DC143C"/>
    <a:srgbClr val="EFF9EB"/>
    <a:srgbClr val="87F9D6"/>
    <a:srgbClr val="E9F8FD"/>
    <a:srgbClr val="F5FBF3"/>
    <a:srgbClr val="FFFFCC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8" autoAdjust="0"/>
    <p:restoredTop sz="94651"/>
  </p:normalViewPr>
  <p:slideViewPr>
    <p:cSldViewPr snapToGrid="0">
      <p:cViewPr varScale="1">
        <p:scale>
          <a:sx n="150" d="100"/>
          <a:sy n="150" d="100"/>
        </p:scale>
        <p:origin x="672" y="126"/>
      </p:cViewPr>
      <p:guideLst>
        <p:guide pos="211"/>
        <p:guide orient="horz" pos="1389"/>
        <p:guide orient="horz" pos="4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73A1-489E-81EF-3FDB2E623FEA}"/>
              </c:ext>
            </c:extLst>
          </c:dPt>
          <c:dPt>
            <c:idx val="1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73A1-489E-81EF-3FDB2E623FEA}"/>
              </c:ext>
            </c:extLst>
          </c:dPt>
          <c:dPt>
            <c:idx val="2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73A1-489E-81EF-3FDB2E623FEA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73A1-489E-81EF-3FDB2E623FEA}"/>
              </c:ext>
            </c:extLst>
          </c:dPt>
          <c:dPt>
            <c:idx val="4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73A1-489E-81EF-3FDB2E623FEA}"/>
              </c:ext>
            </c:extLst>
          </c:dPt>
          <c:dPt>
            <c:idx val="5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73A1-489E-81EF-3FDB2E623FEA}"/>
              </c:ext>
            </c:extLst>
          </c:dPt>
          <c:dPt>
            <c:idx val="6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73A1-489E-81EF-3FDB2E623FEA}"/>
              </c:ext>
            </c:extLst>
          </c:dPt>
          <c:dPt>
            <c:idx val="7"/>
            <c:invertIfNegative val="0"/>
            <c:bubble3D val="0"/>
            <c:spPr>
              <a:gradFill rotWithShape="1">
                <a:gsLst>
                  <a:gs pos="37000">
                    <a:srgbClr val="B0102E"/>
                  </a:gs>
                  <a:gs pos="10000">
                    <a:srgbClr val="DC143C"/>
                  </a:gs>
                  <a:gs pos="99000">
                    <a:schemeClr val="bg1">
                      <a:lumMod val="65000"/>
                    </a:schemeClr>
                  </a:gs>
                </a:gsLst>
                <a:lin ang="5400000" scaled="1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3A1-489E-81EF-3FDB2E623FEA}"/>
              </c:ext>
            </c:extLst>
          </c:dPt>
          <c:dLbls>
            <c:delete val="1"/>
          </c:dLbls>
          <c:cat>
            <c:strRef>
              <c:f>Sheet1!$A$2:$A$9</c:f>
              <c:strCache>
                <c:ptCount val="8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  <c:pt idx="4">
                  <c:v>Level 5</c:v>
                </c:pt>
                <c:pt idx="5">
                  <c:v>Level 6</c:v>
                </c:pt>
                <c:pt idx="6">
                  <c:v>Level 7</c:v>
                </c:pt>
                <c:pt idx="7">
                  <c:v>Level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A1-489E-81EF-3FDB2E623FE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306637247"/>
        <c:axId val="1306639167"/>
      </c:barChart>
      <c:catAx>
        <c:axId val="1306637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  <a:cs typeface="+mn-cs"/>
              </a:defRPr>
            </a:pPr>
            <a:endParaRPr lang="ko-KR"/>
          </a:p>
        </c:txPr>
        <c:crossAx val="1306639167"/>
        <c:crosses val="autoZero"/>
        <c:auto val="1"/>
        <c:lblAlgn val="ctr"/>
        <c:lblOffset val="100"/>
        <c:noMultiLvlLbl val="0"/>
      </c:catAx>
      <c:valAx>
        <c:axId val="130663916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066372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A831F1B-B4E1-A558-1B45-ECB4E6A826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DAC96EA-AB32-40E6-F6F7-2A59584960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DA257-38EF-4A54-B1E1-F1C89FDABA81}" type="datetimeFigureOut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2026-06-11</a:t>
            </a:fld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F9905F4-8FBC-6C4B-A0E0-1E8066A81B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348C17-9A8C-DFE8-D560-9FB290188B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1D0549-2BCE-46AC-8B11-92D610E83220}" type="slidenum">
              <a:rPr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‹#›</a:t>
            </a:fld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234507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3214912-1A81-4669-A23C-5610FFF7E001}" type="datetimeFigureOut">
              <a:rPr lang="ko-KR" altLang="en-US" smtClean="0"/>
              <a:pPr/>
              <a:t>2026-06-11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79775DBD-38AD-469E-AA19-B4DF4B509BC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548699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Noto Sans KR" panose="020B0200000000000000" pitchFamily="50" charset="-127"/>
        <a:ea typeface="Noto Sans KR" panose="020B0200000000000000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479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630800-60AB-1101-C6BF-296DA5AA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8EE178-51CA-DD42-2474-655D2DB3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206E8-5AF1-2106-EF7D-19740B82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825-A8EB-4BA9-A61C-78D35DED0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25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26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630800-60AB-1101-C6BF-296DA5AA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8EE178-51CA-DD42-2474-655D2DB3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206E8-5AF1-2106-EF7D-19740B82C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76825-A8EB-4BA9-A61C-78D35DED03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98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201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4F926-E83D-22C1-3795-BFCDAF418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1DAD0-F9DB-DF55-81BD-D91FFBC0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3D76825-A8EB-4BA9-A61C-78D35DED0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9D65C-9BCA-3488-B705-C7AF5581B4CF}"/>
              </a:ext>
            </a:extLst>
          </p:cNvPr>
          <p:cNvSpPr txBox="1"/>
          <p:nvPr userDrawn="1"/>
        </p:nvSpPr>
        <p:spPr>
          <a:xfrm>
            <a:off x="795562" y="199399"/>
            <a:ext cx="3378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2026.06.18</a:t>
            </a:r>
          </a:p>
          <a:p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세종대학교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Medical Robotics LAB.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52A10B-0E6F-3187-202F-885FED6D5A59}"/>
              </a:ext>
            </a:extLst>
          </p:cNvPr>
          <p:cNvSpPr/>
          <p:nvPr userDrawn="1"/>
        </p:nvSpPr>
        <p:spPr>
          <a:xfrm>
            <a:off x="0" y="6594651"/>
            <a:ext cx="12192000" cy="263349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26" name="Picture 2" descr="UI | 세종대학교">
            <a:extLst>
              <a:ext uri="{FF2B5EF4-FFF2-40B4-BE49-F238E27FC236}">
                <a16:creationId xmlns:a16="http://schemas.microsoft.com/office/drawing/2014/main" id="{19F4E68C-68B7-E647-9B5D-F4AFC761E3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288" y="198345"/>
            <a:ext cx="524274" cy="5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17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66" userDrawn="1">
          <p15:clr>
            <a:srgbClr val="F26B43"/>
          </p15:clr>
        </p15:guide>
        <p15:guide id="3" pos="3940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14F926-E83D-22C1-3795-BFCDAF418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1DAD0-F9DB-DF55-81BD-D91FFBC0DE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83D76825-A8EB-4BA9-A61C-78D35DED03C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9D65C-9BCA-3488-B705-C7AF5581B4CF}"/>
              </a:ext>
            </a:extLst>
          </p:cNvPr>
          <p:cNvSpPr txBox="1"/>
          <p:nvPr userDrawn="1"/>
        </p:nvSpPr>
        <p:spPr>
          <a:xfrm>
            <a:off x="7975704" y="291567"/>
            <a:ext cx="3378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7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 </a:t>
            </a:r>
            <a:r>
              <a:rPr lang="en-US" altLang="ko-KR" sz="1400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2026.06.18</a:t>
            </a:r>
          </a:p>
          <a:p>
            <a:pPr algn="r"/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세종대학교 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  <a:cs typeface="Microsoft GothicNeo" panose="020B0500000101010101" pitchFamily="50" charset="-127"/>
              </a:rPr>
              <a:t>Medical Robotics LAB.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52A10B-0E6F-3187-202F-885FED6D5A59}"/>
              </a:ext>
            </a:extLst>
          </p:cNvPr>
          <p:cNvSpPr/>
          <p:nvPr userDrawn="1"/>
        </p:nvSpPr>
        <p:spPr>
          <a:xfrm>
            <a:off x="0" y="6594651"/>
            <a:ext cx="12192000" cy="263349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26" name="Picture 2" descr="UI | 세종대학교">
            <a:extLst>
              <a:ext uri="{FF2B5EF4-FFF2-40B4-BE49-F238E27FC236}">
                <a16:creationId xmlns:a16="http://schemas.microsoft.com/office/drawing/2014/main" id="{19F4E68C-68B7-E647-9B5D-F4AFC761E3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290513"/>
            <a:ext cx="524274" cy="52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71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orient="horz" pos="1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hop.unitree.com/products/unitree-go2?srsltid=AfmBOor3WU8_u0K3qfnWZSOm-TDlP-SyEfVNephtkc8Z3LkLbiTGGAjn" TargetMode="External"/><Relationship Id="rId2" Type="http://schemas.openxmlformats.org/officeDocument/2006/relationships/hyperlink" Target="https://www.anybotics.com/news/the-next-step-in-robotic-industrial-inspection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An-architecture-of-Multilayer-Perceptron-MLP-58_fig3_343273822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BD3893C-86A5-2B5D-6DDC-18C5885D3A67}"/>
              </a:ext>
            </a:extLst>
          </p:cNvPr>
          <p:cNvSpPr txBox="1">
            <a:spLocks/>
          </p:cNvSpPr>
          <p:nvPr/>
        </p:nvSpPr>
        <p:spPr>
          <a:xfrm>
            <a:off x="211510" y="3326252"/>
            <a:ext cx="11704320" cy="1225547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3100" b="1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Microsoft 고딕Neo" panose="020B0500000101010101" pitchFamily="50" charset="-127"/>
              </a:rPr>
              <a:t>[</a:t>
            </a:r>
            <a:r>
              <a:rPr lang="ko-KR" altLang="ko-KR" sz="3200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㈜</a:t>
            </a:r>
            <a:r>
              <a:rPr lang="ko-KR" altLang="ko-KR" sz="3200" dirty="0" err="1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휴고다이나믹스</a:t>
            </a:r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 &amp;</a:t>
            </a:r>
            <a:r>
              <a:rPr lang="ko-KR" altLang="ko-KR" sz="3200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en-US" sz="3200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세종대학교 </a:t>
            </a:r>
            <a:r>
              <a:rPr lang="en-US" altLang="ko-KR" sz="3200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</a:rPr>
              <a:t>Medical Robotics LAB.</a:t>
            </a:r>
            <a:r>
              <a:rPr lang="en-US" altLang="ko-KR" sz="3100" b="1" dirty="0">
                <a:solidFill>
                  <a:schemeClr val="bg2">
                    <a:lumMod val="5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Microsoft 고딕Neo" panose="020B0500000101010101" pitchFamily="50" charset="-127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ko-KR" dirty="0" err="1">
                <a:latin typeface="프리젠테이션 7 Bold" pitchFamily="2" charset="-127"/>
                <a:ea typeface="프리젠테이션 7 Bold" pitchFamily="2" charset="-127"/>
              </a:rPr>
              <a:t>다족보행</a:t>
            </a:r>
            <a:r>
              <a:rPr lang="ko-KR" altLang="ko-KR" dirty="0">
                <a:latin typeface="프리젠테이션 7 Bold" pitchFamily="2" charset="-127"/>
                <a:ea typeface="프리젠테이션 7 Bold" pitchFamily="2" charset="-127"/>
              </a:rPr>
              <a:t> 로봇 자율보행 기술 개발</a:t>
            </a:r>
            <a:endParaRPr lang="en-US" altLang="ko-KR" sz="3100" b="1" dirty="0">
              <a:solidFill>
                <a:schemeClr val="bg2">
                  <a:lumMod val="50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Microsoft 고딕Neo" panose="020B0500000101010101" pitchFamily="50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8F4772C-C319-3FBC-9DEB-10BEDBCD49E0}"/>
              </a:ext>
            </a:extLst>
          </p:cNvPr>
          <p:cNvSpPr txBox="1">
            <a:spLocks/>
          </p:cNvSpPr>
          <p:nvPr/>
        </p:nvSpPr>
        <p:spPr>
          <a:xfrm>
            <a:off x="211510" y="4611423"/>
            <a:ext cx="9144000" cy="5164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세종대학교 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Ai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로봇학과 </a:t>
            </a:r>
            <a:r>
              <a:rPr lang="ko-KR" altLang="en-US" sz="1600" dirty="0" err="1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우현수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 교수</a:t>
            </a:r>
            <a:r>
              <a:rPr lang="en-US" altLang="ko-KR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/ 2026.06.00 </a:t>
            </a:r>
            <a:r>
              <a:rPr lang="ko-KR" altLang="en-US" sz="1600" dirty="0">
                <a:latin typeface="프리젠테이션 5 Medium" pitchFamily="2" charset="-127"/>
                <a:ea typeface="프리젠테이션 5 Medium" pitchFamily="2" charset="-127"/>
                <a:cs typeface="Microsoft GothicNeo" panose="020B0500000101010101" pitchFamily="50" charset="-127"/>
              </a:rPr>
              <a:t>킥오프 미팅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B9EF22B0-79C8-FDEC-FE02-5D931BEC7721}"/>
              </a:ext>
            </a:extLst>
          </p:cNvPr>
          <p:cNvCxnSpPr>
            <a:cxnSpLocks/>
          </p:cNvCxnSpPr>
          <p:nvPr/>
        </p:nvCxnSpPr>
        <p:spPr>
          <a:xfrm>
            <a:off x="263525" y="4551799"/>
            <a:ext cx="11619976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029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92653-4D4D-F7A4-D652-7BF076A45413}"/>
              </a:ext>
            </a:extLst>
          </p:cNvPr>
          <p:cNvSpPr txBox="1"/>
          <p:nvPr/>
        </p:nvSpPr>
        <p:spPr>
          <a:xfrm>
            <a:off x="2693733" y="3075057"/>
            <a:ext cx="6804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40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40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914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139C-A0C5-CD8D-8A42-5CAC63C60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71A0F18A-B093-1403-BF4B-BC0519A7883F}"/>
              </a:ext>
            </a:extLst>
          </p:cNvPr>
          <p:cNvSpPr/>
          <p:nvPr/>
        </p:nvSpPr>
        <p:spPr>
          <a:xfrm>
            <a:off x="357236" y="2588389"/>
            <a:ext cx="3780456" cy="2730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1B3FC94-4929-AB41-DEF2-51E04672CCC9}"/>
              </a:ext>
            </a:extLst>
          </p:cNvPr>
          <p:cNvSpPr/>
          <p:nvPr/>
        </p:nvSpPr>
        <p:spPr>
          <a:xfrm>
            <a:off x="4359956" y="2592762"/>
            <a:ext cx="3468203" cy="2730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4AB2F9B-1A07-0E47-20F9-59453E84DAD8}"/>
              </a:ext>
            </a:extLst>
          </p:cNvPr>
          <p:cNvSpPr/>
          <p:nvPr/>
        </p:nvSpPr>
        <p:spPr>
          <a:xfrm>
            <a:off x="8057358" y="2588389"/>
            <a:ext cx="3780456" cy="273097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7AFDA8-1CA0-DFEA-A174-4E8AD98C512D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9B0017-6A76-8E9B-DEE5-72D2D17D3CA2}"/>
              </a:ext>
            </a:extLst>
          </p:cNvPr>
          <p:cNvSpPr txBox="1"/>
          <p:nvPr/>
        </p:nvSpPr>
        <p:spPr>
          <a:xfrm>
            <a:off x="492438" y="1283580"/>
            <a:ext cx="807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- Isaac Lab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및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RSL_RL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프레임워크를 기반으로 </a:t>
            </a:r>
            <a:r>
              <a:rPr lang="ko-KR" altLang="en-US" dirty="0" err="1">
                <a:latin typeface="프리젠테이션 5 Medium" pitchFamily="2" charset="-127"/>
                <a:ea typeface="프리젠테이션 5 Medium" pitchFamily="2" charset="-127"/>
              </a:rPr>
              <a:t>다족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 보행 로봇의 시뮬레이션 아키텍처 구축 완료</a:t>
            </a: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64AB7E9-DD56-0F01-7155-C040ECFB9597}"/>
              </a:ext>
            </a:extLst>
          </p:cNvPr>
          <p:cNvGrpSpPr/>
          <p:nvPr/>
        </p:nvGrpSpPr>
        <p:grpSpPr>
          <a:xfrm>
            <a:off x="4295633" y="2211334"/>
            <a:ext cx="3541157" cy="2869154"/>
            <a:chOff x="3790632" y="1828003"/>
            <a:chExt cx="3541157" cy="286915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EDD917-A057-5139-D755-7E0C19CE3DFE}"/>
                </a:ext>
              </a:extLst>
            </p:cNvPr>
            <p:cNvSpPr txBox="1"/>
            <p:nvPr/>
          </p:nvSpPr>
          <p:spPr>
            <a:xfrm>
              <a:off x="3790632" y="1828003"/>
              <a:ext cx="13420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프리젠테이션 7 Bold" pitchFamily="2" charset="-127"/>
                  <a:ea typeface="프리젠테이션 7 Bold" pitchFamily="2" charset="-127"/>
                </a:rPr>
                <a:t>멀티 센서 융합</a:t>
              </a:r>
            </a:p>
          </p:txBody>
        </p: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E4DECCB0-3240-694D-0D94-2E6D2C50E2A8}"/>
                </a:ext>
              </a:extLst>
            </p:cNvPr>
            <p:cNvGrpSpPr/>
            <p:nvPr/>
          </p:nvGrpSpPr>
          <p:grpSpPr>
            <a:xfrm>
              <a:off x="4285917" y="2602955"/>
              <a:ext cx="3045872" cy="2094202"/>
              <a:chOff x="1477960" y="2445878"/>
              <a:chExt cx="3045872" cy="209420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14AD31C-7942-8128-8122-BD376ADE46C0}"/>
                  </a:ext>
                </a:extLst>
              </p:cNvPr>
              <p:cNvSpPr txBox="1"/>
              <p:nvPr/>
            </p:nvSpPr>
            <p:spPr>
              <a:xfrm>
                <a:off x="1477960" y="2445878"/>
                <a:ext cx="261231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IMU (Base Pose &amp; Rotation)</a:t>
                </a:r>
              </a:p>
              <a:p>
                <a:r>
                  <a:rPr lang="en-US" altLang="ko-KR" sz="1400" dirty="0">
                    <a:latin typeface="프리젠테이션 4 Regular" pitchFamily="2" charset="-127"/>
                    <a:ea typeface="프리젠테이션 4 Regular" pitchFamily="2" charset="-127"/>
                  </a:rPr>
                  <a:t>IMU(</a:t>
                </a:r>
                <a:r>
                  <a:rPr lang="ko-KR" altLang="en-US" sz="1400" dirty="0">
                    <a:latin typeface="프리젠테이션 4 Regular" pitchFamily="2" charset="-127"/>
                    <a:ea typeface="프리젠테이션 4 Regular" pitchFamily="2" charset="-127"/>
                  </a:rPr>
                  <a:t>베이스 자세 및 회전</a:t>
                </a:r>
                <a:r>
                  <a:rPr lang="en-US" altLang="ko-KR" sz="1400" dirty="0">
                    <a:latin typeface="프리젠테이션 4 Regular" pitchFamily="2" charset="-127"/>
                    <a:ea typeface="프리젠테이션 4 Regular" pitchFamily="2" charset="-127"/>
                  </a:rPr>
                  <a:t>)</a:t>
                </a:r>
                <a:endParaRPr lang="ko-KR" altLang="en-US" sz="1400" dirty="0">
                  <a:latin typeface="프리젠테이션 4 Regular" pitchFamily="2" charset="-127"/>
                  <a:ea typeface="프리젠테이션 4 Regular" pitchFamily="2" charset="-127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9EAF564-9BFA-4E73-B314-B3BBAA94708F}"/>
                  </a:ext>
                </a:extLst>
              </p:cNvPr>
              <p:cNvSpPr txBox="1"/>
              <p:nvPr/>
            </p:nvSpPr>
            <p:spPr>
              <a:xfrm>
                <a:off x="1491527" y="3215980"/>
                <a:ext cx="193514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HEIGHT SCAN GRID</a:t>
                </a:r>
              </a:p>
              <a:p>
                <a:r>
                  <a:rPr lang="ko-KR" altLang="en-US" sz="1400" dirty="0">
                    <a:latin typeface="프리젠테이션 4 Regular" pitchFamily="2" charset="-127"/>
                    <a:ea typeface="프리젠테이션 4 Regular" pitchFamily="2" charset="-127"/>
                  </a:rPr>
                  <a:t>지형 고도 스캔 그리드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E66D9E-AAE0-223A-8C8B-91F1A4E0AEAF}"/>
                  </a:ext>
                </a:extLst>
              </p:cNvPr>
              <p:cNvSpPr txBox="1"/>
              <p:nvPr/>
            </p:nvSpPr>
            <p:spPr>
              <a:xfrm>
                <a:off x="1491527" y="3986082"/>
                <a:ext cx="303230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dirty="0"/>
                  <a:t>FEET CONTACT (Force &amp; Binary)</a:t>
                </a:r>
              </a:p>
              <a:p>
                <a:r>
                  <a:rPr lang="ko-KR" altLang="en-US" sz="1400" dirty="0">
                    <a:latin typeface="프리젠테이션 4 Regular" pitchFamily="2" charset="-127"/>
                    <a:ea typeface="프리젠테이션 4 Regular" pitchFamily="2" charset="-127"/>
                  </a:rPr>
                  <a:t>발 접촉</a:t>
                </a:r>
                <a:r>
                  <a:rPr lang="en-US" altLang="ko-KR" sz="1400" dirty="0">
                    <a:latin typeface="프리젠테이션 4 Regular" pitchFamily="2" charset="-127"/>
                    <a:ea typeface="프리젠테이션 4 Regular" pitchFamily="2" charset="-127"/>
                  </a:rPr>
                  <a:t>(</a:t>
                </a:r>
                <a:r>
                  <a:rPr lang="ko-KR" altLang="en-US" sz="1400" dirty="0">
                    <a:latin typeface="프리젠테이션 4 Regular" pitchFamily="2" charset="-127"/>
                    <a:ea typeface="프리젠테이션 4 Regular" pitchFamily="2" charset="-127"/>
                  </a:rPr>
                  <a:t>힘 및 바이너리</a:t>
                </a:r>
                <a:r>
                  <a:rPr lang="en-US" altLang="ko-KR" sz="1400" dirty="0">
                    <a:latin typeface="프리젠테이션 4 Regular" pitchFamily="2" charset="-127"/>
                    <a:ea typeface="프리젠테이션 4 Regular" pitchFamily="2" charset="-127"/>
                  </a:rPr>
                  <a:t>)</a:t>
                </a:r>
                <a:endParaRPr lang="ko-KR" altLang="en-US" sz="1400" dirty="0">
                  <a:latin typeface="프리젠테이션 4 Regular" pitchFamily="2" charset="-127"/>
                  <a:ea typeface="프리젠테이션 4 Regular" pitchFamily="2" charset="-127"/>
                </a:endParaRPr>
              </a:p>
            </p:txBody>
          </p: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7B7B44CC-849A-5F30-DFA0-620B5252B1F0}"/>
              </a:ext>
            </a:extLst>
          </p:cNvPr>
          <p:cNvGrpSpPr/>
          <p:nvPr/>
        </p:nvGrpSpPr>
        <p:grpSpPr>
          <a:xfrm>
            <a:off x="7975524" y="2205038"/>
            <a:ext cx="3952951" cy="3033854"/>
            <a:chOff x="7739839" y="2204936"/>
            <a:chExt cx="3952951" cy="303385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167C32F-5FF7-06D6-7C51-B160770CEBCF}"/>
                </a:ext>
              </a:extLst>
            </p:cNvPr>
            <p:cNvSpPr txBox="1"/>
            <p:nvPr/>
          </p:nvSpPr>
          <p:spPr>
            <a:xfrm>
              <a:off x="7764653" y="2204936"/>
              <a:ext cx="18758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프리젠테이션 7 Bold" pitchFamily="2" charset="-127"/>
                  <a:ea typeface="프리젠테이션 7 Bold" pitchFamily="2" charset="-127"/>
                </a:rPr>
                <a:t>적응형 지형 커리큘럼</a:t>
              </a: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D91A742-13A7-27E4-5852-448BCACD55FE}"/>
                </a:ext>
              </a:extLst>
            </p:cNvPr>
            <p:cNvGrpSpPr/>
            <p:nvPr/>
          </p:nvGrpSpPr>
          <p:grpSpPr>
            <a:xfrm>
              <a:off x="7739839" y="2827015"/>
              <a:ext cx="3952951" cy="2411775"/>
              <a:chOff x="7739839" y="2827015"/>
              <a:chExt cx="3952951" cy="2411775"/>
            </a:xfrm>
          </p:grpSpPr>
          <p:graphicFrame>
            <p:nvGraphicFramePr>
              <p:cNvPr id="18" name="차트 17">
                <a:extLst>
                  <a:ext uri="{FF2B5EF4-FFF2-40B4-BE49-F238E27FC236}">
                    <a16:creationId xmlns:a16="http://schemas.microsoft.com/office/drawing/2014/main" id="{C0353E51-ED9D-81A8-5E0F-DED34EE7A7E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10466086"/>
                  </p:ext>
                </p:extLst>
              </p:nvPr>
            </p:nvGraphicFramePr>
            <p:xfrm>
              <a:off x="7739839" y="2905240"/>
              <a:ext cx="3952951" cy="233355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2C91CAF-5E23-BAF5-9B7B-11825FB67B43}"/>
                  </a:ext>
                </a:extLst>
              </p:cNvPr>
              <p:cNvSpPr txBox="1"/>
              <p:nvPr/>
            </p:nvSpPr>
            <p:spPr>
              <a:xfrm>
                <a:off x="8114312" y="4071623"/>
                <a:ext cx="4392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Flat</a:t>
                </a:r>
                <a:endParaRPr lang="ko-KR" altLang="en-US" sz="12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0359C4B-7D0A-27AB-7ECC-79478244D297}"/>
                  </a:ext>
                </a:extLst>
              </p:cNvPr>
              <p:cNvSpPr txBox="1"/>
              <p:nvPr/>
            </p:nvSpPr>
            <p:spPr>
              <a:xfrm>
                <a:off x="11016836" y="2965319"/>
                <a:ext cx="4937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Stair</a:t>
                </a:r>
                <a:endParaRPr lang="ko-KR" altLang="en-US" sz="12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19FB374-0D7F-B567-D907-6D79A6A8C19B}"/>
                  </a:ext>
                </a:extLst>
              </p:cNvPr>
              <p:cNvSpPr txBox="1"/>
              <p:nvPr/>
            </p:nvSpPr>
            <p:spPr>
              <a:xfrm>
                <a:off x="10030927" y="3291677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Slop</a:t>
                </a:r>
                <a:endParaRPr lang="ko-KR" altLang="en-US" sz="1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BCD040-D73A-6CC2-13F7-90941DEF885E}"/>
                  </a:ext>
                </a:extLst>
              </p:cNvPr>
              <p:cNvSpPr txBox="1"/>
              <p:nvPr/>
            </p:nvSpPr>
            <p:spPr>
              <a:xfrm>
                <a:off x="8827854" y="3661305"/>
                <a:ext cx="7552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obstacle</a:t>
                </a:r>
                <a:endParaRPr lang="ko-KR" altLang="en-US" sz="1200" dirty="0"/>
              </a:p>
            </p:txBody>
          </p:sp>
          <p:cxnSp>
            <p:nvCxnSpPr>
              <p:cNvPr id="25" name="직선 화살표 연결선 24">
                <a:extLst>
                  <a:ext uri="{FF2B5EF4-FFF2-40B4-BE49-F238E27FC236}">
                    <a16:creationId xmlns:a16="http://schemas.microsoft.com/office/drawing/2014/main" id="{0ECFB6CE-DBE6-2C70-6C20-047E644913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83056" y="2827015"/>
                <a:ext cx="2914864" cy="1173684"/>
              </a:xfrm>
              <a:prstGeom prst="straightConnector1">
                <a:avLst/>
              </a:prstGeom>
              <a:ln w="28575">
                <a:solidFill>
                  <a:srgbClr val="B0102E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120D95-5652-9C2D-3AF1-106CFD13DF1B}"/>
                  </a:ext>
                </a:extLst>
              </p:cNvPr>
              <p:cNvSpPr txBox="1"/>
              <p:nvPr/>
            </p:nvSpPr>
            <p:spPr>
              <a:xfrm rot="20265186">
                <a:off x="8029464" y="3359405"/>
                <a:ext cx="17162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>
                    <a:latin typeface="프리젠테이션 6 SemiBold" pitchFamily="2" charset="-127"/>
                    <a:ea typeface="프리젠테이션 6 SemiBold" pitchFamily="2" charset="-127"/>
                  </a:rPr>
                  <a:t>Difficulty Row Level</a:t>
                </a:r>
                <a:endParaRPr lang="ko-KR" altLang="en-US" sz="1400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CCAD825C-F7C7-C1C4-27EC-D3A0F244F4DF}"/>
              </a:ext>
            </a:extLst>
          </p:cNvPr>
          <p:cNvSpPr txBox="1"/>
          <p:nvPr/>
        </p:nvSpPr>
        <p:spPr>
          <a:xfrm>
            <a:off x="331110" y="4944178"/>
            <a:ext cx="3913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1400" dirty="0" err="1">
                <a:latin typeface="프리젠테이션 6 SemiBold" pitchFamily="2" charset="-127"/>
                <a:ea typeface="프리젠테이션 6 SemiBold" pitchFamily="2" charset="-127"/>
              </a:rPr>
              <a:t>상·하단</a:t>
            </a:r>
            <a:r>
              <a:rPr lang="ko-KR" altLang="ko-KR" sz="1400" dirty="0">
                <a:latin typeface="프리젠테이션 6 SemiBold" pitchFamily="2" charset="-127"/>
                <a:ea typeface="프리젠테이션 6 SemiBold" pitchFamily="2" charset="-127"/>
              </a:rPr>
              <a:t> 분리 5-DOF 기반 총 30자유도 P-R </a:t>
            </a:r>
            <a:r>
              <a:rPr lang="ko-KR" altLang="ko-KR" sz="1400" dirty="0" err="1">
                <a:latin typeface="프리젠테이션 6 SemiBold" pitchFamily="2" charset="-127"/>
                <a:ea typeface="프리젠테이션 6 SemiBold" pitchFamily="2" charset="-127"/>
              </a:rPr>
              <a:t>헥사포드</a:t>
            </a:r>
            <a:r>
              <a:rPr lang="ko-KR" altLang="ko-KR" sz="1400" dirty="0">
                <a:latin typeface="프리젠테이션 6 SemiBold" pitchFamily="2" charset="-127"/>
                <a:ea typeface="프리젠테이션 6 SemiBold" pitchFamily="2" charset="-127"/>
              </a:rPr>
              <a:t> 로봇</a:t>
            </a:r>
            <a:endParaRPr lang="ko-KR" altLang="en-US" sz="1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292E77-32B6-B9F0-7265-3870B7B4F52B}"/>
              </a:ext>
            </a:extLst>
          </p:cNvPr>
          <p:cNvSpPr txBox="1"/>
          <p:nvPr/>
        </p:nvSpPr>
        <p:spPr>
          <a:xfrm>
            <a:off x="283894" y="2210911"/>
            <a:ext cx="220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>
                <a:latin typeface="+mj-ea"/>
                <a:ea typeface="+mj-ea"/>
              </a:rPr>
              <a:t>P-R 메커니즘 반영 </a:t>
            </a:r>
            <a:r>
              <a:rPr lang="en-US" altLang="ko-KR" dirty="0">
                <a:latin typeface="+mj-ea"/>
                <a:ea typeface="+mj-ea"/>
              </a:rPr>
              <a:t>USD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1" name="왼쪽 중괄호 40">
            <a:extLst>
              <a:ext uri="{FF2B5EF4-FFF2-40B4-BE49-F238E27FC236}">
                <a16:creationId xmlns:a16="http://schemas.microsoft.com/office/drawing/2014/main" id="{4687BD0C-8C17-C325-7F89-E2D04F258D19}"/>
              </a:ext>
            </a:extLst>
          </p:cNvPr>
          <p:cNvSpPr/>
          <p:nvPr/>
        </p:nvSpPr>
        <p:spPr>
          <a:xfrm>
            <a:off x="4445183" y="3103920"/>
            <a:ext cx="393602" cy="162180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A433D9F-9B2B-CE30-3607-A4C157827C86}"/>
              </a:ext>
            </a:extLst>
          </p:cNvPr>
          <p:cNvSpPr/>
          <p:nvPr/>
        </p:nvSpPr>
        <p:spPr>
          <a:xfrm>
            <a:off x="600147" y="2789508"/>
            <a:ext cx="3334886" cy="20872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648127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7112-2BF1-B9F4-801D-06323883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21F88A-197E-BF13-08F5-1C80C69E1978}"/>
              </a:ext>
            </a:extLst>
          </p:cNvPr>
          <p:cNvSpPr txBox="1"/>
          <p:nvPr/>
        </p:nvSpPr>
        <p:spPr>
          <a:xfrm>
            <a:off x="477324" y="1382715"/>
            <a:ext cx="5430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로봇 베이스라인 검토 및 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1</a:t>
            </a:r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차 환경 세팅 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en" altLang="ko-KR" sz="2000" b="1" dirty="0">
                <a:latin typeface="Freesentation 7 Bold" pitchFamily="2" charset="-127"/>
                <a:ea typeface="Freesentation 7 Bold" pitchFamily="2" charset="-127"/>
              </a:rPr>
              <a:t>Reference </a:t>
            </a:r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분석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936C8-4D77-5401-44B1-1E449E2D6FAF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108E1-7B73-85E8-6DF1-86F8AEB6C758}"/>
              </a:ext>
            </a:extLst>
          </p:cNvPr>
          <p:cNvSpPr txBox="1"/>
          <p:nvPr/>
        </p:nvSpPr>
        <p:spPr>
          <a:xfrm>
            <a:off x="477324" y="1994109"/>
            <a:ext cx="5923476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Isaac Lab </a:t>
            </a:r>
            <a:r>
              <a:rPr lang="ko-KR" altLang="en-US" b="1" dirty="0"/>
              <a:t>기본 예제 분석</a:t>
            </a:r>
            <a:endParaRPr lang="en-US" altLang="ko-KR" b="1" dirty="0"/>
          </a:p>
          <a:p>
            <a:endParaRPr lang="ko-KR" altLang="en-US" b="1" dirty="0"/>
          </a:p>
          <a:p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Isaac Lab</a:t>
            </a:r>
            <a:r>
              <a:rPr lang="ko-KR" altLang="en-US" sz="1600" dirty="0" err="1">
                <a:latin typeface="Freesentation 4 Regular" pitchFamily="2" charset="-127"/>
                <a:ea typeface="Freesentation 4 Regular" pitchFamily="2" charset="-127"/>
              </a:rPr>
              <a:t>에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 기본 제공되는 상용 사족보행 로봇</a:t>
            </a:r>
            <a:r>
              <a:rPr lang="en-US" altLang="ko-KR" sz="1600" dirty="0">
                <a:latin typeface="Freesentation 4 Regular" pitchFamily="2" charset="-127"/>
                <a:ea typeface="Freesentation 4 Regular" pitchFamily="2" charset="-127"/>
              </a:rPr>
              <a:t>(</a:t>
            </a:r>
            <a:r>
              <a:rPr lang="en" altLang="ko-KR" sz="1600" dirty="0" err="1">
                <a:latin typeface="Freesentation 4 Regular" pitchFamily="2" charset="-127"/>
                <a:ea typeface="Freesentation 4 Regular" pitchFamily="2" charset="-127"/>
              </a:rPr>
              <a:t>ANYmal</a:t>
            </a: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-C, Unitree Go2)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의 강화학습 예제 분석을 통한 보행 학습 파이프라인 구축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분석 항목</a:t>
            </a:r>
            <a:r>
              <a:rPr lang="en-US" altLang="ko-KR" sz="1600" dirty="0">
                <a:latin typeface="Freesentation 4 Regular" pitchFamily="2" charset="-127"/>
                <a:ea typeface="Freesentation 4 Regular" pitchFamily="2" charset="-127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Observation Space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구성 방식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PPO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기반 </a:t>
            </a: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Actor-Critic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구조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Reward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설계 전략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Terrain Curriculum Learning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기법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Height Scanner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기반 지형 인식 방법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Contact Sensor</a:t>
            </a:r>
            <a:r>
              <a:rPr lang="ko-KR" altLang="en-US" sz="1600" dirty="0" err="1">
                <a:latin typeface="Freesentation 4 Regular" pitchFamily="2" charset="-127"/>
                <a:ea typeface="Freesentation 4 Regular" pitchFamily="2" charset="-127"/>
              </a:rPr>
              <a:t>를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 이용한 발 접촉 판정 기법 </a:t>
            </a:r>
            <a:endParaRPr lang="en-US" altLang="ko-KR" sz="1600" dirty="0">
              <a:latin typeface="Freesentation 4 Regular" pitchFamily="2" charset="-127"/>
              <a:ea typeface="Freesentation 4 Regular" pitchFamily="2" charset="-127"/>
            </a:endParaRPr>
          </a:p>
          <a:p>
            <a:endParaRPr lang="ko-KR" altLang="en-US" sz="1600" dirty="0">
              <a:latin typeface="Freesentation 4 Regular" pitchFamily="2" charset="-127"/>
              <a:ea typeface="Freesentation 4 Regular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282CE-418D-879F-D110-AC3A0DD3DE88}"/>
              </a:ext>
            </a:extLst>
          </p:cNvPr>
          <p:cNvSpPr txBox="1"/>
          <p:nvPr/>
        </p:nvSpPr>
        <p:spPr>
          <a:xfrm>
            <a:off x="6751256" y="6036504"/>
            <a:ext cx="607670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900" dirty="0">
                <a:solidFill>
                  <a:schemeClr val="bg1">
                    <a:lumMod val="65000"/>
                  </a:schemeClr>
                </a:solidFill>
                <a:hlinkClick r:id="rId2"/>
              </a:rPr>
              <a:t>https://www.anybotics.com/news/the-next-step-in-robotic-industrial-inspection/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.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 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en-US" altLang="ko-KR" sz="900" dirty="0" err="1">
                <a:solidFill>
                  <a:schemeClr val="bg1">
                    <a:lumMod val="65000"/>
                  </a:schemeClr>
                </a:solidFill>
              </a:rPr>
              <a:t>anybotics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홈페이지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r>
              <a:rPr lang="en" altLang="ko-KR" sz="900" dirty="0">
                <a:solidFill>
                  <a:schemeClr val="bg1">
                    <a:lumMod val="65000"/>
                  </a:schemeClr>
                </a:solidFill>
                <a:hlinkClick r:id="rId3"/>
              </a:rPr>
              <a:t>https://shop.unitree.com/products/unitree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hlinkClick r:id="rId3"/>
              </a:rPr>
              <a:t>-</a:t>
            </a:r>
            <a:r>
              <a:rPr lang="en" altLang="ko-KR" sz="900" dirty="0">
                <a:solidFill>
                  <a:schemeClr val="bg1">
                    <a:lumMod val="65000"/>
                  </a:schemeClr>
                </a:solidFill>
                <a:hlinkClick r:id="rId3"/>
              </a:rPr>
              <a:t>go2?srsltid=AfmBOor3WU8_u0K3qfnWZSOm-TDlP-SyEfVNephtkc8Z3LkLbiTGGAjn</a:t>
            </a:r>
            <a:r>
              <a:rPr lang="en" altLang="ko-KR" sz="900" dirty="0">
                <a:solidFill>
                  <a:schemeClr val="bg1">
                    <a:lumMod val="65000"/>
                  </a:schemeClr>
                </a:solidFill>
              </a:rPr>
              <a:t> (unitree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상품구매 페이지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050" name="Picture 2" descr="ANYmal C autonomous legged robot for industrial inspection">
            <a:extLst>
              <a:ext uri="{FF2B5EF4-FFF2-40B4-BE49-F238E27FC236}">
                <a16:creationId xmlns:a16="http://schemas.microsoft.com/office/drawing/2014/main" id="{B71D9CE1-D0FB-8223-A11D-22C0C013C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585" y="1020502"/>
            <a:ext cx="2816506" cy="281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A9AEDC1-DA58-B9F7-3AF6-FF16F6B77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175" y="2442981"/>
            <a:ext cx="3096870" cy="3096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E49651-65A6-E0B1-82FC-0B7AF5F89A95}"/>
              </a:ext>
            </a:extLst>
          </p:cNvPr>
          <p:cNvSpPr txBox="1"/>
          <p:nvPr/>
        </p:nvSpPr>
        <p:spPr>
          <a:xfrm>
            <a:off x="477324" y="5221604"/>
            <a:ext cx="7150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강화학습 환경 구성 및 보행 정책 학습 흐름을 이해하고 </a:t>
            </a:r>
            <a:r>
              <a:rPr lang="en" altLang="ko-KR" sz="1600" dirty="0">
                <a:latin typeface="Freesentation 4 Regular" pitchFamily="2" charset="-127"/>
                <a:ea typeface="Freesentation 4 Regular" pitchFamily="2" charset="-127"/>
              </a:rPr>
              <a:t>Hugo </a:t>
            </a:r>
            <a:r>
              <a:rPr lang="ko-KR" altLang="en-US" sz="1600" dirty="0">
                <a:latin typeface="Freesentation 4 Regular" pitchFamily="2" charset="-127"/>
                <a:ea typeface="Freesentation 4 Regular" pitchFamily="2" charset="-127"/>
              </a:rPr>
              <a:t>플랫폼에 적용 가능한 요소를 선별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071023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20C0C-AADA-533A-781D-07AA1E7E4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B15B4-F169-6E9F-18BB-DDC6BD589796}"/>
              </a:ext>
            </a:extLst>
          </p:cNvPr>
          <p:cNvSpPr txBox="1"/>
          <p:nvPr/>
        </p:nvSpPr>
        <p:spPr>
          <a:xfrm>
            <a:off x="477324" y="1382715"/>
            <a:ext cx="54300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로봇 베이스라인 검토 및 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1</a:t>
            </a:r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차 환경 세팅 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en" altLang="ko-KR" sz="2000" b="1" dirty="0">
                <a:latin typeface="Freesentation 7 Bold" pitchFamily="2" charset="-127"/>
                <a:ea typeface="Freesentation 7 Bold" pitchFamily="2" charset="-127"/>
              </a:rPr>
              <a:t>Reference </a:t>
            </a:r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분석</a:t>
            </a:r>
            <a:r>
              <a:rPr lang="en-US" altLang="ko-KR" sz="2000" b="1" dirty="0">
                <a:latin typeface="Freesentation 7 Bold" pitchFamily="2" charset="-127"/>
                <a:ea typeface="Freesentation 7 Bold" pitchFamily="2" charset="-127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C84F1-6E1A-2953-DCE2-2CF3F8E8A810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B39E2-0D2D-9616-1622-D83933B1E04E}"/>
              </a:ext>
            </a:extLst>
          </p:cNvPr>
          <p:cNvSpPr txBox="1"/>
          <p:nvPr/>
        </p:nvSpPr>
        <p:spPr>
          <a:xfrm>
            <a:off x="477324" y="2279478"/>
            <a:ext cx="599491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Hugo </a:t>
            </a:r>
            <a:r>
              <a:rPr lang="ko-KR" altLang="en-US" b="1" dirty="0"/>
              <a:t>플랫폼에 맞춘 환경 재구성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레퍼런스를 바탕으로 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30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-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lang="en-US" altLang="ko-KR" sz="1600" dirty="0" err="1">
                <a:latin typeface="Freesentation 5 Medium" pitchFamily="2" charset="-127"/>
                <a:ea typeface="Freesentation 5 Medium" pitchFamily="2" charset="-127"/>
              </a:rPr>
              <a:t>DOf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인 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6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족 로봇을 위해 전용 강화학습 환경을 새롭게 구축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주요 변경 사항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en" altLang="ko-KR" sz="1600" dirty="0" err="1">
                <a:latin typeface="Freesentation 5 Medium" pitchFamily="2" charset="-127"/>
                <a:ea typeface="Freesentation 5 Medium" pitchFamily="2" charset="-127"/>
              </a:rPr>
              <a:t>ArticulationCfg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기반 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30-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DOF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로봇 모델 재구성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Revolute-Prismatic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복합 관절 제어 지원 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 err="1">
                <a:latin typeface="Freesentation 5 Medium" pitchFamily="2" charset="-127"/>
                <a:ea typeface="Freesentation 5 Medium" pitchFamily="2" charset="-127"/>
              </a:rPr>
              <a:t>육족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보행에 적합한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Reward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함수 재설계 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Height Scanner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및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Contact Sensor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연동 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Mixed Terrain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기반 지형 적응 환경 구축 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Hugo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전용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Observation Space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및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Action Space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설계 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endParaRPr lang="ko-KR" altLang="en-US" sz="16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상용 사족보행 로봇 예제를 기반으로 하되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,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Hugo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플랫폼의 구조적 특성을 반영한 독자적인 강화학습 환경을 구축</a:t>
            </a:r>
            <a:endParaRPr lang="en-US" altLang="ko-KR" sz="1600" dirty="0">
              <a:latin typeface="Freesentation 5 Medium" pitchFamily="2" charset="-127"/>
              <a:ea typeface="Freesentation 5 Medium" pitchFamily="2" charset="-127"/>
            </a:endParaRPr>
          </a:p>
        </p:txBody>
      </p:sp>
      <p:pic>
        <p:nvPicPr>
          <p:cNvPr id="5" name="그림 4" descr="텍스트, 스크린샷, 웹 페이지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AD29BE-6DC7-4559-B2B4-54E3832EF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8" y="282575"/>
            <a:ext cx="4679950" cy="584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27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E25B3-B8EF-5817-1819-792BA3691B69}"/>
              </a:ext>
            </a:extLst>
          </p:cNvPr>
          <p:cNvSpPr txBox="1"/>
          <p:nvPr/>
        </p:nvSpPr>
        <p:spPr>
          <a:xfrm>
            <a:off x="445675" y="1090941"/>
            <a:ext cx="349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30-DOF P-R </a:t>
            </a:r>
            <a:r>
              <a:rPr lang="ko-KR" altLang="ko-KR" dirty="0" err="1"/>
              <a:t>헥사포드</a:t>
            </a:r>
            <a:r>
              <a:rPr lang="ko-KR" altLang="ko-KR" dirty="0"/>
              <a:t> 기본 설계 및 사양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25A7EB-B02C-64C7-CC78-AB175DA040C4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FB967-BE47-7098-750B-4A80D184E301}"/>
              </a:ext>
            </a:extLst>
          </p:cNvPr>
          <p:cNvSpPr txBox="1"/>
          <p:nvPr/>
        </p:nvSpPr>
        <p:spPr>
          <a:xfrm>
            <a:off x="445675" y="1842380"/>
            <a:ext cx="565032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ko-KR" sz="1600" b="1" dirty="0">
                <a:latin typeface="프리젠테이션 7 Bold" pitchFamily="2" charset="-127"/>
                <a:ea typeface="프리젠테이션 7 Bold" pitchFamily="2" charset="-127"/>
              </a:rPr>
              <a:t>베이스 및 </a:t>
            </a:r>
            <a:r>
              <a:rPr lang="ko-KR" altLang="ko-KR" sz="1600" b="1" dirty="0" err="1">
                <a:latin typeface="프리젠테이션 7 Bold" pitchFamily="2" charset="-127"/>
                <a:ea typeface="프리젠테이션 7 Bold" pitchFamily="2" charset="-127"/>
              </a:rPr>
              <a:t>섀시</a:t>
            </a:r>
            <a:r>
              <a:rPr lang="ko-KR" altLang="ko-KR" sz="1600" b="1" dirty="0">
                <a:latin typeface="프리젠테이션 7 Bold" pitchFamily="2" charset="-127"/>
                <a:ea typeface="프리젠테이션 7 Bold" pitchFamily="2" charset="-127"/>
              </a:rPr>
              <a:t> (</a:t>
            </a:r>
            <a:r>
              <a:rPr lang="ko-KR" altLang="ko-KR" sz="1600" b="1" dirty="0" err="1">
                <a:latin typeface="프리젠테이션 7 Bold" pitchFamily="2" charset="-127"/>
                <a:ea typeface="프리젠테이션 7 Bold" pitchFamily="2" charset="-127"/>
              </a:rPr>
              <a:t>Base</a:t>
            </a:r>
            <a:r>
              <a:rPr lang="ko-KR" altLang="ko-KR" sz="1600" b="1" dirty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ko-KR" sz="1600" b="1" dirty="0" err="1">
                <a:latin typeface="프리젠테이션 7 Bold" pitchFamily="2" charset="-127"/>
                <a:ea typeface="프리젠테이션 7 Bold" pitchFamily="2" charset="-127"/>
              </a:rPr>
              <a:t>Chassis</a:t>
            </a:r>
            <a:r>
              <a:rPr lang="ko-KR" altLang="ko-KR" sz="1600" b="1" dirty="0">
                <a:latin typeface="프리젠테이션 7 Bold" pitchFamily="2" charset="-127"/>
                <a:ea typeface="프리젠테이션 7 Bold" pitchFamily="2" charset="-127"/>
              </a:rPr>
              <a:t>)</a:t>
            </a:r>
            <a:endParaRPr lang="en-US" altLang="ko-KR" sz="1600" b="1" dirty="0">
              <a:latin typeface="프리젠테이션 7 Bold" pitchFamily="2" charset="-127"/>
              <a:ea typeface="프리젠테이션 7 Bold" pitchFamily="2" charset="-127"/>
            </a:endParaRPr>
          </a:p>
          <a:p>
            <a:pPr marL="342900" indent="-342900">
              <a:buAutoNum type="arabicPeriod"/>
            </a:pPr>
            <a:endParaRPr lang="ko-KR" altLang="ko-KR" sz="1600" b="1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크기: 800(W2) × 1600(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L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) 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mm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, 두께 약 200 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mm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 (네모 상자 형태)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다리 배치: 몸통 좌우로 0cm 간격 배치 (총 6개)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특징: 대형 체급의 플랫폼으로, 상단에 무거운 페이로드(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LiDAR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, 배터리, 컴퓨팅 모듈 등)를 적재하기 위한 넓은 면적 확보.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4F8AF-9F9F-2AE8-0AA1-0000012F2E41}"/>
              </a:ext>
            </a:extLst>
          </p:cNvPr>
          <p:cNvSpPr txBox="1"/>
          <p:nvPr/>
        </p:nvSpPr>
        <p:spPr>
          <a:xfrm>
            <a:off x="6826994" y="1842380"/>
            <a:ext cx="609399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 startAt="2"/>
            </a:pPr>
            <a:r>
              <a:rPr lang="ko-KR" altLang="en-US" sz="1600" b="1" dirty="0">
                <a:latin typeface="프리젠테이션 7 Bold" pitchFamily="2" charset="-127"/>
                <a:ea typeface="프리젠테이션 7 Bold" pitchFamily="2" charset="-127"/>
              </a:rPr>
              <a:t>다리 기구학적 구조 </a:t>
            </a:r>
            <a:r>
              <a:rPr lang="en-US" altLang="ko-KR" sz="1600" b="1" dirty="0">
                <a:latin typeface="프리젠테이션 7 Bold" pitchFamily="2" charset="-127"/>
                <a:ea typeface="프리젠테이션 7 Bold" pitchFamily="2" charset="-127"/>
              </a:rPr>
              <a:t>-  </a:t>
            </a:r>
            <a:r>
              <a:rPr lang="ko-KR" altLang="en-US" sz="1600" b="1" dirty="0">
                <a:latin typeface="프리젠테이션 7 Bold" pitchFamily="2" charset="-127"/>
                <a:ea typeface="프리젠테이션 7 Bold" pitchFamily="2" charset="-127"/>
              </a:rPr>
              <a:t>다리당 </a:t>
            </a:r>
            <a:r>
              <a:rPr lang="en-US" altLang="ko-KR" sz="1600" b="1" dirty="0">
                <a:latin typeface="프리젠테이션 7 Bold" pitchFamily="2" charset="-127"/>
                <a:ea typeface="프리젠테이션 7 Bold" pitchFamily="2" charset="-127"/>
              </a:rPr>
              <a:t>5-DOF</a:t>
            </a:r>
          </a:p>
          <a:p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1) </a:t>
            </a:r>
            <a:r>
              <a:rPr lang="ko-KR" altLang="en-US" sz="1400" dirty="0">
                <a:latin typeface="프리젠테이션 7 Bold" pitchFamily="2" charset="-127"/>
                <a:ea typeface="프리젠테이션 7 Bold" pitchFamily="2" charset="-127"/>
              </a:rPr>
              <a:t>위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쪽 </a:t>
            </a:r>
            <a:r>
              <a:rPr lang="ko-KR" altLang="ko-KR" sz="1400" dirty="0" err="1">
                <a:latin typeface="프리젠테이션 7 Bold" pitchFamily="2" charset="-127"/>
                <a:ea typeface="프리젠테이션 7 Bold" pitchFamily="2" charset="-127"/>
              </a:rPr>
              <a:t>구조군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 (</a:t>
            </a:r>
            <a:r>
              <a:rPr lang="ko-KR" altLang="ko-KR" sz="1400" dirty="0" err="1">
                <a:latin typeface="프리젠테이션 7 Bold" pitchFamily="2" charset="-127"/>
                <a:ea typeface="프리젠테이션 7 Bold" pitchFamily="2" charset="-127"/>
              </a:rPr>
              <a:t>Upper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 Group): 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총 3자유도 (3-DOF)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몸체의 3차원자세 제어(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Roll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Pitch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) 및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 Prismatic</a:t>
            </a: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바깥쪽 원통 (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Cylinder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): 길이 35cm / 지름 8cm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안쪽 원통 (</a:t>
            </a:r>
            <a:r>
              <a:rPr lang="ko-KR" altLang="ko-KR" sz="1400" dirty="0" err="1">
                <a:latin typeface="프리젠테이션 5 Medium" pitchFamily="2" charset="-127"/>
                <a:ea typeface="프리젠테이션 5 Medium" pitchFamily="2" charset="-127"/>
              </a:rPr>
              <a:t>Cylinder</a:t>
            </a: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): 길이 30cm / 지름 6cm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ko-KR" sz="1400" dirty="0"/>
              <a:t>2</a:t>
            </a:r>
            <a:r>
              <a:rPr lang="en-US" altLang="ko-KR" sz="1400" dirty="0"/>
              <a:t>)</a:t>
            </a:r>
            <a:r>
              <a:rPr lang="ko-KR" altLang="ko-KR" sz="1400" dirty="0"/>
              <a:t> 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아래쪽 </a:t>
            </a:r>
            <a:r>
              <a:rPr lang="ko-KR" altLang="ko-KR" sz="1400" dirty="0" err="1">
                <a:latin typeface="프리젠테이션 7 Bold" pitchFamily="2" charset="-127"/>
                <a:ea typeface="프리젠테이션 7 Bold" pitchFamily="2" charset="-127"/>
              </a:rPr>
              <a:t>구조군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 (</a:t>
            </a:r>
            <a:r>
              <a:rPr lang="ko-KR" altLang="ko-KR" sz="1400" dirty="0" err="1">
                <a:latin typeface="프리젠테이션 7 Bold" pitchFamily="2" charset="-127"/>
                <a:ea typeface="프리젠테이션 7 Bold" pitchFamily="2" charset="-127"/>
              </a:rPr>
              <a:t>Lower</a:t>
            </a:r>
            <a:r>
              <a:rPr lang="ko-KR" altLang="ko-KR" sz="1400" dirty="0">
                <a:latin typeface="프리젠테이션 7 Bold" pitchFamily="2" charset="-127"/>
                <a:ea typeface="프리젠테이션 7 Bold" pitchFamily="2" charset="-127"/>
              </a:rPr>
              <a:t> Group): </a:t>
            </a:r>
            <a:r>
              <a:rPr lang="ko-KR" altLang="ko-KR" sz="1400" dirty="0"/>
              <a:t>총 2자유도 (2-DOF)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Pitch </a:t>
            </a: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및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Prismatic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바깥쪽 원통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(Cylinder): </a:t>
            </a: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길이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35cm / </a:t>
            </a: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지름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8cm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안쪽 원통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(Cylinder): </a:t>
            </a: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길이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30cm / </a:t>
            </a:r>
            <a:r>
              <a:rPr lang="ko-KR" altLang="en-US" sz="1400" dirty="0">
                <a:latin typeface="프리젠테이션 5 Medium" pitchFamily="2" charset="-127"/>
                <a:ea typeface="프리젠테이션 5 Medium" pitchFamily="2" charset="-127"/>
              </a:rPr>
              <a:t>지름 </a:t>
            </a:r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6cm</a:t>
            </a:r>
          </a:p>
          <a:p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400" dirty="0">
                <a:latin typeface="프리젠테이션 5 Medium" pitchFamily="2" charset="-127"/>
                <a:ea typeface="프리젠테이션 5 Medium" pitchFamily="2" charset="-127"/>
              </a:rPr>
              <a:t>3)</a:t>
            </a:r>
            <a:r>
              <a:rPr lang="ko-KR" altLang="ko-KR" sz="1400" b="1" dirty="0"/>
              <a:t> </a:t>
            </a:r>
            <a:r>
              <a:rPr lang="ko-KR" altLang="ko-KR" sz="1400" dirty="0">
                <a:latin typeface="+mj-ea"/>
                <a:ea typeface="+mj-ea"/>
              </a:rPr>
              <a:t>발바닥 말단 (</a:t>
            </a:r>
            <a:r>
              <a:rPr lang="ko-KR" altLang="ko-KR" sz="1400" dirty="0" err="1">
                <a:latin typeface="+mj-ea"/>
                <a:ea typeface="+mj-ea"/>
              </a:rPr>
              <a:t>Feet</a:t>
            </a:r>
            <a:r>
              <a:rPr lang="ko-KR" altLang="ko-KR" sz="1400" dirty="0">
                <a:latin typeface="+mj-ea"/>
                <a:ea typeface="+mj-ea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형태: 원통형 패드 (길이: 2cm / 지름: 6cm)</a:t>
            </a:r>
            <a:endParaRPr lang="en-US" altLang="ko-KR" sz="1400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sz="1400" dirty="0">
                <a:latin typeface="프리젠테이션 5 Medium" pitchFamily="2" charset="-127"/>
                <a:ea typeface="프리젠테이션 5 Medium" pitchFamily="2" charset="-127"/>
              </a:rPr>
              <a:t>특징: 고마찰계수 고무 매핑 및 추후 전자석 모듈 탑재 공간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D31A0D-98A4-2403-2FEB-6226B8C43218}"/>
              </a:ext>
            </a:extLst>
          </p:cNvPr>
          <p:cNvSpPr/>
          <p:nvPr/>
        </p:nvSpPr>
        <p:spPr>
          <a:xfrm>
            <a:off x="666000" y="3428999"/>
            <a:ext cx="5217442" cy="2719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사진</a:t>
            </a:r>
          </a:p>
        </p:txBody>
      </p:sp>
    </p:spTree>
    <p:extLst>
      <p:ext uri="{BB962C8B-B14F-4D97-AF65-F5344CB8AC3E}">
        <p14:creationId xmlns:p14="http://schemas.microsoft.com/office/powerpoint/2010/main" val="33443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FB0E1-E4B4-6F3A-2100-E24C7686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BBD7C-9867-C1F9-D39D-A3556D13A96A}"/>
              </a:ext>
            </a:extLst>
          </p:cNvPr>
          <p:cNvSpPr txBox="1"/>
          <p:nvPr/>
        </p:nvSpPr>
        <p:spPr>
          <a:xfrm>
            <a:off x="263525" y="2529890"/>
            <a:ext cx="6006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2000" dirty="0">
                <a:latin typeface="프리젠테이션 7 Bold" pitchFamily="2" charset="-127"/>
                <a:ea typeface="프리젠테이션 7 Bold" pitchFamily="2" charset="-127"/>
              </a:rPr>
              <a:t>핵심 학습 알고리즘: PPO (</a:t>
            </a:r>
            <a:r>
              <a:rPr lang="ko-KR" altLang="ko-KR" sz="2000" dirty="0" err="1">
                <a:latin typeface="프리젠테이션 7 Bold" pitchFamily="2" charset="-127"/>
                <a:ea typeface="프리젠테이션 7 Bold" pitchFamily="2" charset="-127"/>
              </a:rPr>
              <a:t>Proximal</a:t>
            </a:r>
            <a:r>
              <a:rPr lang="ko-KR" altLang="ko-KR" sz="2000" dirty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ko-KR" sz="2000" dirty="0" err="1">
                <a:latin typeface="프리젠테이션 7 Bold" pitchFamily="2" charset="-127"/>
                <a:ea typeface="프리젠테이션 7 Bold" pitchFamily="2" charset="-127"/>
              </a:rPr>
              <a:t>Policy</a:t>
            </a:r>
            <a:r>
              <a:rPr lang="ko-KR" altLang="ko-KR" sz="2000" dirty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ko-KR" sz="2000" dirty="0" err="1">
                <a:latin typeface="프리젠테이션 7 Bold" pitchFamily="2" charset="-127"/>
                <a:ea typeface="프리젠테이션 7 Bold" pitchFamily="2" charset="-127"/>
              </a:rPr>
              <a:t>Optimization</a:t>
            </a:r>
            <a:r>
              <a:rPr lang="ko-KR" altLang="ko-KR" sz="2000" dirty="0">
                <a:latin typeface="프리젠테이션 7 Bold" pitchFamily="2" charset="-127"/>
                <a:ea typeface="프리젠테이션 7 Bold" pitchFamily="2" charset="-127"/>
              </a:rPr>
              <a:t>)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1DBD6-2E3E-3F63-16C0-ADC462DE08C1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933643-53C0-0159-B81E-2602C8FCF6FC}"/>
              </a:ext>
            </a:extLst>
          </p:cNvPr>
          <p:cNvSpPr txBox="1"/>
          <p:nvPr/>
        </p:nvSpPr>
        <p:spPr>
          <a:xfrm>
            <a:off x="349840" y="2930000"/>
            <a:ext cx="54975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b="1" dirty="0" err="1">
                <a:latin typeface="프리젠테이션 6 SemiBold" pitchFamily="2" charset="-127"/>
                <a:ea typeface="프리젠테이션 6 SemiBold" pitchFamily="2" charset="-127"/>
              </a:rPr>
              <a:t>Actor-Critic</a:t>
            </a:r>
            <a:r>
              <a:rPr lang="ko-KR" altLang="ko-KR" b="1" dirty="0">
                <a:latin typeface="프리젠테이션 6 SemiBold" pitchFamily="2" charset="-127"/>
                <a:ea typeface="프리젠테이션 6 SemiBold" pitchFamily="2" charset="-127"/>
              </a:rPr>
              <a:t> 구조:</a:t>
            </a:r>
            <a:endParaRPr lang="ko-KR" altLang="ko-KR" dirty="0"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b="1" dirty="0" err="1">
                <a:latin typeface="프리젠테이션 6 SemiBold" pitchFamily="2" charset="-127"/>
                <a:ea typeface="프리젠테이션 6 SemiBold" pitchFamily="2" charset="-127"/>
              </a:rPr>
              <a:t>Actor</a:t>
            </a:r>
            <a:r>
              <a:rPr lang="ko-KR" altLang="ko-KR" b="1" dirty="0">
                <a:latin typeface="프리젠테이션 6 SemiBold" pitchFamily="2" charset="-127"/>
                <a:ea typeface="프리젠테이션 6 SemiBold" pitchFamily="2" charset="-127"/>
              </a:rPr>
              <a:t> (</a:t>
            </a:r>
            <a:r>
              <a:rPr lang="ko-KR" altLang="ko-KR" b="1" dirty="0" err="1">
                <a:latin typeface="프리젠테이션 6 SemiBold" pitchFamily="2" charset="-127"/>
                <a:ea typeface="프리젠테이션 6 SemiBold" pitchFamily="2" charset="-127"/>
              </a:rPr>
              <a:t>행동자</a:t>
            </a:r>
            <a:r>
              <a:rPr lang="ko-KR" altLang="ko-KR" b="1" dirty="0">
                <a:latin typeface="프리젠테이션 6 SemiBold" pitchFamily="2" charset="-127"/>
                <a:ea typeface="프리젠테이션 6 SemiBold" pitchFamily="2" charset="-127"/>
              </a:rPr>
              <a:t>):</a:t>
            </a:r>
            <a:r>
              <a:rPr lang="ko-KR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dirty="0">
                <a:latin typeface="프리젠테이션 5 Medium" pitchFamily="2" charset="-127"/>
                <a:ea typeface="프리젠테이션 5 Medium" pitchFamily="2" charset="-127"/>
              </a:rPr>
              <a:t>로봇의 센서 값(상태)을 보고 30개 관절을 어떻게 움직일지(행동) 결정</a:t>
            </a:r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ko-KR" b="1" dirty="0" err="1">
                <a:latin typeface="프리젠테이션 6 SemiBold" pitchFamily="2" charset="-127"/>
                <a:ea typeface="프리젠테이션 6 SemiBold" pitchFamily="2" charset="-127"/>
              </a:rPr>
              <a:t>Critic</a:t>
            </a:r>
            <a:r>
              <a:rPr lang="ko-KR" altLang="ko-KR" b="1" dirty="0">
                <a:latin typeface="프리젠테이션 6 SemiBold" pitchFamily="2" charset="-127"/>
                <a:ea typeface="프리젠테이션 6 SemiBold" pitchFamily="2" charset="-127"/>
              </a:rPr>
              <a:t> (비평가):</a:t>
            </a:r>
            <a:r>
              <a:rPr lang="ko-KR" altLang="ko-KR" dirty="0"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dirty="0">
                <a:latin typeface="프리젠테이션 5 Medium" pitchFamily="2" charset="-127"/>
                <a:ea typeface="프리젠테이션 5 Medium" pitchFamily="2" charset="-127"/>
              </a:rPr>
              <a:t>현재 로봇의 상태가 얼마나 </a:t>
            </a:r>
            <a:r>
              <a:rPr lang="ko-KR" altLang="ko-KR" dirty="0" err="1">
                <a:latin typeface="프리젠테이션 5 Medium" pitchFamily="2" charset="-127"/>
                <a:ea typeface="프리젠테이션 5 Medium" pitchFamily="2" charset="-127"/>
              </a:rPr>
              <a:t>좋은지</a:t>
            </a:r>
            <a:r>
              <a:rPr lang="ko-KR" altLang="ko-KR" dirty="0">
                <a:latin typeface="프리젠테이션 5 Medium" pitchFamily="2" charset="-127"/>
                <a:ea typeface="프리젠테이션 5 Medium" pitchFamily="2" charset="-127"/>
              </a:rPr>
              <a:t>(보상 예측)를 평가하여 </a:t>
            </a:r>
            <a:r>
              <a:rPr lang="ko-KR" altLang="ko-KR" dirty="0" err="1">
                <a:latin typeface="프리젠테이션 5 Medium" pitchFamily="2" charset="-127"/>
                <a:ea typeface="프리젠테이션 5 Medium" pitchFamily="2" charset="-127"/>
              </a:rPr>
              <a:t>Actor가</a:t>
            </a:r>
            <a:r>
              <a:rPr lang="ko-KR" altLang="ko-KR" dirty="0">
                <a:latin typeface="프리젠테이션 5 Medium" pitchFamily="2" charset="-127"/>
                <a:ea typeface="프리젠테이션 5 Medium" pitchFamily="2" charset="-127"/>
              </a:rPr>
              <a:t> 더 나은 행동을 하도록 피드백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제공</a:t>
            </a:r>
            <a:endParaRPr lang="ko-KR" altLang="ko-KR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EA69B9-54CA-111C-0CA2-3E72E5801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613" y="2205038"/>
            <a:ext cx="5358063" cy="261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E9AD7F-E27E-8966-244C-6B5B61F348E2}"/>
              </a:ext>
            </a:extLst>
          </p:cNvPr>
          <p:cNvSpPr txBox="1"/>
          <p:nvPr/>
        </p:nvSpPr>
        <p:spPr>
          <a:xfrm>
            <a:off x="8129504" y="4822834"/>
            <a:ext cx="37989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출처</a:t>
            </a:r>
            <a:r>
              <a:rPr lang="en-US" altLang="ko-KR" sz="1100" dirty="0">
                <a:latin typeface="프리젠테이션 4 Regular" pitchFamily="2" charset="-127"/>
                <a:ea typeface="프리젠테이션 4 Regular" pitchFamily="2" charset="-127"/>
              </a:rPr>
              <a:t>: </a:t>
            </a:r>
            <a:r>
              <a:rPr lang="ko-KR" altLang="en-US" sz="1100" dirty="0">
                <a:latin typeface="프리젠테이션 4 Regular" pitchFamily="2" charset="-127"/>
                <a:ea typeface="프리젠테이션 4 Regular" pitchFamily="2" charset="-127"/>
              </a:rPr>
              <a:t>https://ai.plainenglish.io/ppo-algorithm-3b33195de14a</a:t>
            </a:r>
          </a:p>
        </p:txBody>
      </p:sp>
    </p:spTree>
    <p:extLst>
      <p:ext uri="{BB962C8B-B14F-4D97-AF65-F5344CB8AC3E}">
        <p14:creationId xmlns:p14="http://schemas.microsoft.com/office/powerpoint/2010/main" val="1560471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03CD9-BA89-88A7-3341-8F5FE8764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41BDC8-3AE9-4445-69FF-AB13EA58A67B}"/>
              </a:ext>
            </a:extLst>
          </p:cNvPr>
          <p:cNvSpPr txBox="1"/>
          <p:nvPr/>
        </p:nvSpPr>
        <p:spPr>
          <a:xfrm>
            <a:off x="177800" y="1487362"/>
            <a:ext cx="90127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신경망 모델</a:t>
            </a:r>
            <a:r>
              <a:rPr lang="en-US" altLang="ko-KR" sz="2000" dirty="0">
                <a:latin typeface="프리젠테이션 7 Bold" pitchFamily="2" charset="-127"/>
                <a:ea typeface="프리젠테이션 7 Bold" pitchFamily="2" charset="-127"/>
              </a:rPr>
              <a:t> 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아키텍처</a:t>
            </a:r>
            <a:r>
              <a:rPr lang="en-US" altLang="ko-KR" sz="2000" dirty="0">
                <a:latin typeface="프리젠테이션 7 Bold" pitchFamily="2" charset="-127"/>
                <a:ea typeface="프리젠테이션 7 Bold" pitchFamily="2" charset="-127"/>
              </a:rPr>
              <a:t>: RSL_RL 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프레임워크 기반의 </a:t>
            </a:r>
            <a:r>
              <a:rPr lang="en-US" altLang="ko-KR" sz="2000" dirty="0">
                <a:latin typeface="프리젠테이션 7 Bold" pitchFamily="2" charset="-127"/>
                <a:ea typeface="프리젠테이션 7 Bold" pitchFamily="2" charset="-127"/>
              </a:rPr>
              <a:t>MLP (Multi-Layer Perceptron) 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</a:rPr>
              <a:t>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AF34DC-E330-AB4C-CBC4-FE73A8CAC023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2375B8-5008-FA1D-71D2-976BE9243049}"/>
              </a:ext>
            </a:extLst>
          </p:cNvPr>
          <p:cNvSpPr txBox="1"/>
          <p:nvPr/>
        </p:nvSpPr>
        <p:spPr>
          <a:xfrm>
            <a:off x="477324" y="2135909"/>
            <a:ext cx="54975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dirty="0" err="1">
                <a:latin typeface="+mj-ea"/>
                <a:ea typeface="+mj-ea"/>
              </a:rPr>
              <a:t>입력층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(Input Layer - Observation Space):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로봇으로부터 수집되는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Multi-modal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데이터 </a:t>
            </a:r>
            <a:r>
              <a:rPr lang="ko-KR" altLang="en-US" dirty="0" err="1">
                <a:latin typeface="프리젠테이션 5 Medium" pitchFamily="2" charset="-127"/>
                <a:ea typeface="프리젠테이션 5 Medium" pitchFamily="2" charset="-127"/>
              </a:rPr>
              <a:t>텐서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은닉층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(Hidden Layers):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현재 구현</a:t>
            </a:r>
            <a:r>
              <a:rPr lang="en-US" altLang="ko-KR" dirty="0"/>
              <a:t>:</a:t>
            </a:r>
            <a:r>
              <a:rPr lang="en" altLang="ko-KR" dirty="0"/>
              <a:t>MLP(32,32)</a:t>
            </a:r>
            <a:r>
              <a:rPr lang="ko-KR" altLang="en-US" dirty="0"/>
              <a:t> 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ko-KR" altLang="en-US" dirty="0"/>
              <a:t>향후 실험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(256,128,64)</a:t>
            </a:r>
            <a:r>
              <a:rPr lang="ko-KR" altLang="en-US" dirty="0"/>
              <a:t> 더 깊은 네트워크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" altLang="ko-KR" dirty="0"/>
              <a:t>Transformer </a:t>
            </a:r>
            <a:r>
              <a:rPr lang="ko-KR" altLang="en-US" dirty="0"/>
              <a:t>기반 정책</a:t>
            </a:r>
            <a:endParaRPr lang="en-US" altLang="ko-KR" dirty="0"/>
          </a:p>
          <a:p>
            <a:endParaRPr lang="en-US" altLang="ko-KR" dirty="0">
              <a:latin typeface="프리젠테이션 5 Medium" pitchFamily="2" charset="-127"/>
              <a:ea typeface="프리젠테이션 5 Medium" pitchFamily="2" charset="-127"/>
            </a:endParaRPr>
          </a:p>
          <a:p>
            <a:pPr>
              <a:buNone/>
            </a:pPr>
            <a:r>
              <a:rPr lang="ko-KR" altLang="en-US" dirty="0" err="1">
                <a:latin typeface="+mj-ea"/>
                <a:ea typeface="+mj-ea"/>
              </a:rPr>
              <a:t>출력층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(Output Layer - Action Space):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출력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다리당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5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개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× 6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개 다리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= 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총 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30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차원의 조인트 목표 위치 지령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(Joint Position Target).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30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자유도의 복합 관절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(Prismatic + Revolute)</a:t>
            </a:r>
            <a:r>
              <a:rPr lang="ko-KR" altLang="en-US" dirty="0">
                <a:latin typeface="프리젠테이션 5 Medium" pitchFamily="2" charset="-127"/>
                <a:ea typeface="프리젠테이션 5 Medium" pitchFamily="2" charset="-127"/>
              </a:rPr>
              <a:t>을 동시에 제어하기 위한 독립적인 스케일링 적용</a:t>
            </a:r>
            <a:r>
              <a:rPr lang="en-US" altLang="ko-KR" dirty="0">
                <a:latin typeface="프리젠테이션 5 Medium" pitchFamily="2" charset="-127"/>
                <a:ea typeface="프리젠테이션 5 Medium" pitchFamily="2" charset="-127"/>
              </a:rPr>
              <a:t>.</a:t>
            </a:r>
            <a:endParaRPr lang="ko-KR" altLang="ko-KR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4100" name="Picture 4" descr="An architecture of Multilayer Perceptron (MLP) [58].">
            <a:extLst>
              <a:ext uri="{FF2B5EF4-FFF2-40B4-BE49-F238E27FC236}">
                <a16:creationId xmlns:a16="http://schemas.microsoft.com/office/drawing/2014/main" id="{74C58488-2C12-95CE-A1C5-098E4CD0D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5" y="2334120"/>
            <a:ext cx="4989866" cy="317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D65C47-79C0-B892-41B3-7EFA573F9298}"/>
              </a:ext>
            </a:extLst>
          </p:cNvPr>
          <p:cNvSpPr txBox="1"/>
          <p:nvPr/>
        </p:nvSpPr>
        <p:spPr>
          <a:xfrm>
            <a:off x="9190524" y="5687428"/>
            <a:ext cx="6093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0" i="0" dirty="0" err="1">
                <a:solidFill>
                  <a:srgbClr val="6B6B6B"/>
                </a:solidFill>
                <a:effectLst/>
                <a:latin typeface="프리젠테이션 5 Medium" pitchFamily="2" charset="-127"/>
              </a:rPr>
              <a:t>Image</a:t>
            </a:r>
            <a:r>
              <a:rPr lang="ko-KR" altLang="ko-KR" sz="1400" b="0" i="0" dirty="0">
                <a:solidFill>
                  <a:srgbClr val="6B6B6B"/>
                </a:solidFill>
                <a:effectLst/>
                <a:latin typeface="프리젠테이션 5 Medium" pitchFamily="2" charset="-127"/>
              </a:rPr>
              <a:t> </a:t>
            </a:r>
            <a:r>
              <a:rPr lang="ko-KR" altLang="ko-KR" sz="1400" b="0" i="0" dirty="0" err="1">
                <a:solidFill>
                  <a:srgbClr val="6B6B6B"/>
                </a:solidFill>
                <a:effectLst/>
                <a:latin typeface="프리젠테이션 5 Medium" pitchFamily="2" charset="-127"/>
              </a:rPr>
              <a:t>Credit</a:t>
            </a:r>
            <a:r>
              <a:rPr lang="ko-KR" altLang="ko-KR" sz="1400" b="0" i="0" dirty="0">
                <a:solidFill>
                  <a:srgbClr val="6B6B6B"/>
                </a:solidFill>
                <a:effectLst/>
                <a:latin typeface="프리젠테이션 5 Medium" pitchFamily="2" charset="-127"/>
              </a:rPr>
              <a:t>: </a:t>
            </a:r>
            <a:r>
              <a:rPr lang="ko-KR" altLang="ko-KR" sz="1400" b="0" i="0" u="sng" dirty="0" err="1">
                <a:effectLst/>
                <a:latin typeface="프리젠테이션 5 Medium" pitchFamily="2" charset="-127"/>
                <a:hlinkClick r:id="rId3"/>
              </a:rPr>
              <a:t>Jamshed</a:t>
            </a:r>
            <a:r>
              <a:rPr lang="ko-KR" altLang="ko-KR" sz="1400" b="0" i="0" u="sng" dirty="0">
                <a:effectLst/>
                <a:latin typeface="프리젠테이션 5 Medium" pitchFamily="2" charset="-127"/>
                <a:hlinkClick r:id="rId3"/>
              </a:rPr>
              <a:t> </a:t>
            </a:r>
            <a:r>
              <a:rPr lang="ko-KR" altLang="ko-KR" sz="1400" b="0" i="0" u="sng" dirty="0" err="1">
                <a:effectLst/>
                <a:latin typeface="프리젠테이션 5 Medium" pitchFamily="2" charset="-127"/>
                <a:hlinkClick r:id="rId3"/>
              </a:rPr>
              <a:t>Memon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1329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D62A6-F721-8AF6-DB7A-55CA188AE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B04D8C-578F-26B9-1F37-EC055F804E28}"/>
              </a:ext>
            </a:extLst>
          </p:cNvPr>
          <p:cNvSpPr txBox="1"/>
          <p:nvPr/>
        </p:nvSpPr>
        <p:spPr>
          <a:xfrm>
            <a:off x="477324" y="1096965"/>
            <a:ext cx="3884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단계적 관절 제어 및 적응형 지형 학습 전략</a:t>
            </a:r>
            <a:endParaRPr lang="en-US" altLang="ko-KR" sz="2000" b="1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E0C69-2149-26CA-BD8C-D447D91938D5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1280E6-7E75-83ED-8C84-F308604D7B8E}"/>
              </a:ext>
            </a:extLst>
          </p:cNvPr>
          <p:cNvSpPr txBox="1"/>
          <p:nvPr/>
        </p:nvSpPr>
        <p:spPr>
          <a:xfrm>
            <a:off x="477324" y="4890509"/>
            <a:ext cx="858565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reesentation 6 SemiBold" pitchFamily="2" charset="-127"/>
                <a:ea typeface="Freesentation 6 SemiBold" pitchFamily="2" charset="-127"/>
              </a:rPr>
              <a:t>1</a:t>
            </a:r>
            <a:r>
              <a:rPr lang="ko-KR" altLang="en-US" b="1" dirty="0">
                <a:latin typeface="Freesentation 6 SemiBold" pitchFamily="2" charset="-127"/>
                <a:ea typeface="Freesentation 6 SemiBold" pitchFamily="2" charset="-127"/>
              </a:rPr>
              <a:t>단계</a:t>
            </a:r>
            <a:r>
              <a:rPr lang="en-US" altLang="ko-KR" b="1" dirty="0">
                <a:latin typeface="Freesentation 6 SemiBold" pitchFamily="2" charset="-127"/>
                <a:ea typeface="Freesentation 6 SemiBold" pitchFamily="2" charset="-127"/>
              </a:rPr>
              <a:t>: </a:t>
            </a:r>
            <a:r>
              <a:rPr lang="ko-KR" altLang="en-US" b="1" dirty="0">
                <a:latin typeface="Freesentation 6 SemiBold" pitchFamily="2" charset="-127"/>
                <a:ea typeface="Freesentation 6 SemiBold" pitchFamily="2" charset="-127"/>
              </a:rPr>
              <a:t>회전 관절 구동 제어 및 평지 보행 안정화 </a:t>
            </a:r>
            <a:r>
              <a:rPr lang="en-US" altLang="ko-KR" b="1" dirty="0">
                <a:latin typeface="Freesentation 6 SemiBold" pitchFamily="2" charset="-127"/>
                <a:ea typeface="Freesentation 6 SemiBold" pitchFamily="2" charset="-127"/>
              </a:rPr>
              <a:t>(</a:t>
            </a:r>
            <a:r>
              <a:rPr lang="en" altLang="ko-KR" b="1" dirty="0">
                <a:latin typeface="Freesentation 6 SemiBold" pitchFamily="2" charset="-127"/>
                <a:ea typeface="Freesentation 6 SemiBold" pitchFamily="2" charset="-127"/>
              </a:rPr>
              <a:t>Revolute Only)</a:t>
            </a:r>
          </a:p>
          <a:p>
            <a:endParaRPr lang="en" altLang="ko-KR" dirty="0"/>
          </a:p>
          <a:p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Prismatic(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선형 변위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)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관절의 가동 범위를 초기 한계치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(0.0)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로 구속하여 고정형 다리 구조 구축</a:t>
            </a: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고관절과 무릎의 회전 관절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(18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자유도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)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만을 활성화하여 패턴 없는 원초적 평지 보행 안정화 달성</a:t>
            </a:r>
          </a:p>
        </p:txBody>
      </p:sp>
    </p:spTree>
    <p:extLst>
      <p:ext uri="{BB962C8B-B14F-4D97-AF65-F5344CB8AC3E}">
        <p14:creationId xmlns:p14="http://schemas.microsoft.com/office/powerpoint/2010/main" val="240501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40C48-4E06-ADA3-9ED5-FEED02BE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76A77-BA50-205E-55DB-6E908748B48B}"/>
              </a:ext>
            </a:extLst>
          </p:cNvPr>
          <p:cNvSpPr txBox="1"/>
          <p:nvPr/>
        </p:nvSpPr>
        <p:spPr>
          <a:xfrm>
            <a:off x="477324" y="1096965"/>
            <a:ext cx="3884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단계적 관절 제어 및 적응형 지형 학습 전략</a:t>
            </a:r>
            <a:endParaRPr lang="en-US" altLang="ko-KR" sz="2000" b="1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7A0C4A-8084-8FCF-6330-83025D79896B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4568F-0A2B-0A85-A2D8-271E96E46BAE}"/>
              </a:ext>
            </a:extLst>
          </p:cNvPr>
          <p:cNvSpPr txBox="1"/>
          <p:nvPr/>
        </p:nvSpPr>
        <p:spPr>
          <a:xfrm>
            <a:off x="477324" y="4890509"/>
            <a:ext cx="85856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2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단계</a:t>
            </a:r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: 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하이브리드 </a:t>
            </a:r>
            <a:r>
              <a:rPr lang="ko-KR" altLang="en-US" b="1" dirty="0" err="1">
                <a:latin typeface="Freesentation 7 Bold" pitchFamily="2" charset="-127"/>
                <a:ea typeface="Freesentation 7 Bold" pitchFamily="2" charset="-127"/>
              </a:rPr>
              <a:t>제어권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 확장 및 수평 유지 구현 </a:t>
            </a:r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en" altLang="ko-KR" b="1" dirty="0">
                <a:latin typeface="Freesentation 7 Bold" pitchFamily="2" charset="-127"/>
                <a:ea typeface="Freesentation 7 Bold" pitchFamily="2" charset="-127"/>
              </a:rPr>
              <a:t>P-R Hybrid)</a:t>
            </a:r>
          </a:p>
          <a:p>
            <a:endParaRPr lang="en" altLang="ko-KR" sz="1600" dirty="0">
              <a:latin typeface="Freesentation 5 Medium" pitchFamily="2" charset="-127"/>
              <a:ea typeface="Freesentation 5 Medium" pitchFamily="2" charset="-127"/>
            </a:endParaRP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평지 보행 안정화 이후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Prismatic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관절의 봉인을 해제하여 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30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자유도 완전 제어 공간으로 확장</a:t>
            </a:r>
          </a:p>
          <a:p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Height Scanner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기반 지형 적응 학습 환경 구축 완료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,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현재 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P-R Hybrid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제어 정책 학습 진행 중</a:t>
            </a:r>
          </a:p>
        </p:txBody>
      </p:sp>
    </p:spTree>
    <p:extLst>
      <p:ext uri="{BB962C8B-B14F-4D97-AF65-F5344CB8AC3E}">
        <p14:creationId xmlns:p14="http://schemas.microsoft.com/office/powerpoint/2010/main" val="63763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A8DB-2E9B-1BDC-8BF9-93AD22DB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D99FA0-33A9-9C5A-0874-01866203C4EE}"/>
              </a:ext>
            </a:extLst>
          </p:cNvPr>
          <p:cNvSpPr txBox="1"/>
          <p:nvPr/>
        </p:nvSpPr>
        <p:spPr>
          <a:xfrm>
            <a:off x="477324" y="1096965"/>
            <a:ext cx="38843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단계적 관절 제어 및 적응형 지형 학습 전략</a:t>
            </a:r>
            <a:endParaRPr lang="en-US" altLang="ko-KR" sz="2000" b="1" dirty="0"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9AEFD-36F5-EA30-6652-7C01FA69E37E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D03C0-7C63-67B1-A991-8DCE96F3D52C}"/>
              </a:ext>
            </a:extLst>
          </p:cNvPr>
          <p:cNvSpPr txBox="1"/>
          <p:nvPr/>
        </p:nvSpPr>
        <p:spPr>
          <a:xfrm>
            <a:off x="477324" y="4690484"/>
            <a:ext cx="1136357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3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단계</a:t>
            </a:r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: 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적응형 지형 커리큘럼</a:t>
            </a:r>
            <a:r>
              <a:rPr lang="en-US" altLang="ko-KR" b="1" dirty="0">
                <a:latin typeface="Freesentation 7 Bold" pitchFamily="2" charset="-127"/>
                <a:ea typeface="Freesentation 7 Bold" pitchFamily="2" charset="-127"/>
              </a:rPr>
              <a:t>(</a:t>
            </a:r>
            <a:r>
              <a:rPr lang="en" altLang="ko-KR" b="1" dirty="0">
                <a:latin typeface="Freesentation 7 Bold" pitchFamily="2" charset="-127"/>
                <a:ea typeface="Freesentation 7 Bold" pitchFamily="2" charset="-127"/>
              </a:rPr>
              <a:t>Adaptive Terrain Curriculum) </a:t>
            </a:r>
            <a:r>
              <a:rPr lang="ko-KR" altLang="en-US" b="1" dirty="0">
                <a:latin typeface="Freesentation 7 Bold" pitchFamily="2" charset="-127"/>
                <a:ea typeface="Freesentation 7 Bold" pitchFamily="2" charset="-127"/>
              </a:rPr>
              <a:t>도입</a:t>
            </a:r>
            <a:endParaRPr lang="en-US" altLang="ko-KR" b="1" dirty="0">
              <a:latin typeface="Freesentation 7 Bold" pitchFamily="2" charset="-127"/>
              <a:ea typeface="Freesentation 7 Bold" pitchFamily="2" charset="-127"/>
            </a:endParaRPr>
          </a:p>
          <a:p>
            <a:endParaRPr lang="ko-KR" altLang="en-US" b="1" dirty="0">
              <a:latin typeface="Freesentation 7 Bold" pitchFamily="2" charset="-127"/>
              <a:ea typeface="Freesentation 7 Bold" pitchFamily="2" charset="-127"/>
            </a:endParaRP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순차 학습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Sequential)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의 단점인 파국적 망각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Catastrophic Forgetting)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과 무작위 학습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Mixed)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의 단점인 초기 수렴 실패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Local Minima)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문제를 동시에 극복하기 위해 도입</a:t>
            </a:r>
          </a:p>
          <a:p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로봇의 보행 성능 및 성공률에 동기화되어 난이도 구역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(</a:t>
            </a:r>
            <a:r>
              <a:rPr lang="en" altLang="ko-KR" sz="1600" dirty="0">
                <a:latin typeface="Freesentation 5 Medium" pitchFamily="2" charset="-127"/>
                <a:ea typeface="Freesentation 5 Medium" pitchFamily="2" charset="-127"/>
              </a:rPr>
              <a:t>Row 0 ~ Row 7) 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간의 </a:t>
            </a:r>
            <a:r>
              <a:rPr lang="ko-KR" altLang="en-US" sz="1600" dirty="0" err="1">
                <a:latin typeface="Freesentation 5 Medium" pitchFamily="2" charset="-127"/>
                <a:ea typeface="Freesentation 5 Medium" pitchFamily="2" charset="-127"/>
              </a:rPr>
              <a:t>스폰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위치를 동적으로 결정하는 적응형 지형 학습 구조 구현</a:t>
            </a:r>
            <a:r>
              <a:rPr lang="en-US" altLang="ko-KR" sz="1600" dirty="0">
                <a:latin typeface="Freesentation 5 Medium" pitchFamily="2" charset="-127"/>
                <a:ea typeface="Freesentation 5 Medium" pitchFamily="2" charset="-127"/>
              </a:rPr>
              <a:t>,</a:t>
            </a:r>
            <a:r>
              <a:rPr lang="ko-KR" altLang="en-US" sz="1600" dirty="0">
                <a:latin typeface="Freesentation 5 Medium" pitchFamily="2" charset="-127"/>
                <a:ea typeface="Freesentation 5 Medium" pitchFamily="2" charset="-127"/>
              </a:rPr>
              <a:t> </a:t>
            </a:r>
            <a:r>
              <a:rPr lang="ko-KR" altLang="en-US" sz="1600" dirty="0"/>
              <a:t>안정성 검증</a:t>
            </a:r>
            <a:r>
              <a:rPr lang="en-US" altLang="ko-KR" sz="1600" dirty="0"/>
              <a:t>, </a:t>
            </a:r>
            <a:r>
              <a:rPr lang="en" altLang="ko-KR" sz="1600" dirty="0"/>
              <a:t>Mixed Terrain </a:t>
            </a:r>
            <a:r>
              <a:rPr lang="ko-KR" altLang="en-US" sz="1600" dirty="0"/>
              <a:t>실험 진행중</a:t>
            </a:r>
            <a:endParaRPr lang="ko-KR" altLang="en-US" sz="1600" dirty="0">
              <a:latin typeface="Freesentation 5 Medium" pitchFamily="2" charset="-127"/>
              <a:ea typeface="Freesentation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1017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5112D-A200-7372-9255-7135BAD3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1A42D5-134D-C47C-E7BC-3AE1B5C61282}"/>
              </a:ext>
            </a:extLst>
          </p:cNvPr>
          <p:cNvSpPr txBox="1"/>
          <p:nvPr/>
        </p:nvSpPr>
        <p:spPr>
          <a:xfrm>
            <a:off x="177800" y="282575"/>
            <a:ext cx="4679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2. 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현재 단계 기술 성과 및 구현 방식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46C3478-465C-FB05-28DB-12EE7E7436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438193"/>
              </p:ext>
            </p:extLst>
          </p:nvPr>
        </p:nvGraphicFramePr>
        <p:xfrm>
          <a:off x="886384" y="2205038"/>
          <a:ext cx="4796053" cy="3433170"/>
        </p:xfrm>
        <a:graphic>
          <a:graphicData uri="http://schemas.openxmlformats.org/drawingml/2006/table">
            <a:tbl>
              <a:tblPr/>
              <a:tblGrid>
                <a:gridCol w="1045855">
                  <a:extLst>
                    <a:ext uri="{9D8B030D-6E8A-4147-A177-3AD203B41FA5}">
                      <a16:colId xmlns:a16="http://schemas.microsoft.com/office/drawing/2014/main" val="3721565972"/>
                    </a:ext>
                  </a:extLst>
                </a:gridCol>
                <a:gridCol w="1434334">
                  <a:extLst>
                    <a:ext uri="{9D8B030D-6E8A-4147-A177-3AD203B41FA5}">
                      <a16:colId xmlns:a16="http://schemas.microsoft.com/office/drawing/2014/main" val="798227642"/>
                    </a:ext>
                  </a:extLst>
                </a:gridCol>
                <a:gridCol w="475489">
                  <a:extLst>
                    <a:ext uri="{9D8B030D-6E8A-4147-A177-3AD203B41FA5}">
                      <a16:colId xmlns:a16="http://schemas.microsoft.com/office/drawing/2014/main" val="1049258170"/>
                    </a:ext>
                  </a:extLst>
                </a:gridCol>
                <a:gridCol w="1840375">
                  <a:extLst>
                    <a:ext uri="{9D8B030D-6E8A-4147-A177-3AD203B41FA5}">
                      <a16:colId xmlns:a16="http://schemas.microsoft.com/office/drawing/2014/main" val="1888261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구분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변수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차원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400" dirty="0"/>
                        <a:t>의미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673857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Base State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base_lin_vel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몸체 </a:t>
                      </a:r>
                      <a:r>
                        <a:rPr lang="ko-KR" altLang="en-US" sz="1100" dirty="0" err="1"/>
                        <a:t>선속도</a:t>
                      </a:r>
                      <a:endParaRPr lang="ko-KR" altLang="en-US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389462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Joint State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joint_pos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18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Revolute </a:t>
                      </a:r>
                      <a:r>
                        <a:rPr lang="ko-KR" altLang="en-US" sz="1100" dirty="0"/>
                        <a:t>관절 위치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701940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Joint State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joint_vel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18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Revolute </a:t>
                      </a:r>
                      <a:r>
                        <a:rPr lang="ko-KR" altLang="en-US" sz="1100"/>
                        <a:t>관절 속도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816649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Prismatic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prismatic_joint_pos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Prismatic </a:t>
                      </a:r>
                      <a:r>
                        <a:rPr lang="ko-KR" altLang="en-US" sz="1100"/>
                        <a:t>관절 위치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984359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Prismatic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prismatic_joint_vel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12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Prismatic </a:t>
                      </a:r>
                      <a:r>
                        <a:rPr lang="ko-KR" altLang="en-US" sz="1100" dirty="0"/>
                        <a:t>관절 속도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588746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IMU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imu_ang_vel_b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몸체 각속도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375085"/>
                  </a:ext>
                </a:extLst>
              </a:tr>
              <a:tr h="4263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IMU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imu_projected_gravity_b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중력 방향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3169256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Contact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feet_contact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6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발 접촉 여부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002928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Contact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feet_contact_force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18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발 접촉 힘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1615928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Terrain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height_scan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117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주변 지형 높이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792773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Command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velocity_commands</a:t>
                      </a:r>
                      <a:endParaRPr lang="en" sz="1100" dirty="0"/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3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목표 속도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812076"/>
                  </a:ext>
                </a:extLst>
              </a:tr>
              <a:tr h="24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History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actions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30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이전 액션</a:t>
                      </a:r>
                    </a:p>
                  </a:txBody>
                  <a:tcPr marL="79115" marR="79115" marT="39558" marB="3955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73533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DE7C4F0-E4B5-6382-0D97-6166F2E03047}"/>
              </a:ext>
            </a:extLst>
          </p:cNvPr>
          <p:cNvSpPr txBox="1"/>
          <p:nvPr/>
        </p:nvSpPr>
        <p:spPr>
          <a:xfrm>
            <a:off x="818120" y="1897261"/>
            <a:ext cx="6100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dirty="0"/>
              <a:t>Policy Observation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총 </a:t>
            </a:r>
            <a:r>
              <a:rPr lang="en-US" altLang="ko-KR" sz="1400" dirty="0"/>
              <a:t>243</a:t>
            </a:r>
            <a:r>
              <a:rPr lang="ko-KR" altLang="en-US" sz="1400" dirty="0"/>
              <a:t>차원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0D78048-C8CB-1009-2846-F43D2EF704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427477"/>
              </p:ext>
            </p:extLst>
          </p:nvPr>
        </p:nvGraphicFramePr>
        <p:xfrm>
          <a:off x="6147873" y="2205038"/>
          <a:ext cx="5486400" cy="1036320"/>
        </p:xfrm>
        <a:graphic>
          <a:graphicData uri="http://schemas.openxmlformats.org/drawingml/2006/table">
            <a:tbl>
              <a:tblPr/>
              <a:tblGrid>
                <a:gridCol w="1795977">
                  <a:extLst>
                    <a:ext uri="{9D8B030D-6E8A-4147-A177-3AD203B41FA5}">
                      <a16:colId xmlns:a16="http://schemas.microsoft.com/office/drawing/2014/main" val="146331977"/>
                    </a:ext>
                  </a:extLst>
                </a:gridCol>
                <a:gridCol w="1861623">
                  <a:extLst>
                    <a:ext uri="{9D8B030D-6E8A-4147-A177-3AD203B41FA5}">
                      <a16:colId xmlns:a16="http://schemas.microsoft.com/office/drawing/2014/main" val="1160812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70524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관절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4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roll_pos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Roll Joint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977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pitch_pos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Pitch Joint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704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prismatic_pos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Prismatic Joint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0.04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31167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02C8C4C-BB05-DD41-1A79-29A310585E00}"/>
              </a:ext>
            </a:extLst>
          </p:cNvPr>
          <p:cNvSpPr txBox="1"/>
          <p:nvPr/>
        </p:nvSpPr>
        <p:spPr>
          <a:xfrm>
            <a:off x="6091238" y="1893429"/>
            <a:ext cx="6100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dirty="0"/>
              <a:t>Action Space</a:t>
            </a:r>
            <a:endParaRPr lang="ko-KR" altLang="en-US" sz="14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0F587EF-AD8C-E031-B11B-ADEE8E3EC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2839181"/>
              </p:ext>
            </p:extLst>
          </p:nvPr>
        </p:nvGraphicFramePr>
        <p:xfrm>
          <a:off x="6128823" y="3845336"/>
          <a:ext cx="5505450" cy="2331720"/>
        </p:xfrm>
        <a:graphic>
          <a:graphicData uri="http://schemas.openxmlformats.org/drawingml/2006/table">
            <a:tbl>
              <a:tblPr/>
              <a:tblGrid>
                <a:gridCol w="1835150">
                  <a:extLst>
                    <a:ext uri="{9D8B030D-6E8A-4147-A177-3AD203B41FA5}">
                      <a16:colId xmlns:a16="http://schemas.microsoft.com/office/drawing/2014/main" val="21158268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1993035726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18823472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Reward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/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목적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481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track_lin_vel_xy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목표 속도 추종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5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track_ang_vel_z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회전 속도 추종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40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feet_air_time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보행 유도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343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 err="1"/>
                        <a:t>is_alive</a:t>
                      </a:r>
                      <a:endParaRPr lang="e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/>
                        <a:t>0.05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생존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84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dirty="0"/>
                        <a:t>flat_orientation_l2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-5.0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몸체 수평 유지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6523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dirty="0" err="1"/>
                        <a:t>undesired_contacts</a:t>
                      </a:r>
                      <a:endParaRPr lang="en" altLang="ko-KR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-1.0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비정상 접촉 방지</a:t>
                      </a:r>
                      <a:endParaRPr lang="en-US" altLang="ko-KR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189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dirty="0"/>
                        <a:t>lin_vel_z_l2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-0.25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상하 진동 억제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22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100" dirty="0"/>
                        <a:t>action_rate_l2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100" dirty="0"/>
                        <a:t>-0.02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급격한 움직임 방지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66769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3ED4BE5-0B9B-5C06-BCA7-CD3E56043AA6}"/>
              </a:ext>
            </a:extLst>
          </p:cNvPr>
          <p:cNvSpPr txBox="1"/>
          <p:nvPr/>
        </p:nvSpPr>
        <p:spPr>
          <a:xfrm>
            <a:off x="6022974" y="3529895"/>
            <a:ext cx="61007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sz="1400" dirty="0"/>
              <a:t>Reward Function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A8F0E-0E87-CFB0-F916-C2FD4A824A47}"/>
              </a:ext>
            </a:extLst>
          </p:cNvPr>
          <p:cNvSpPr txBox="1"/>
          <p:nvPr/>
        </p:nvSpPr>
        <p:spPr>
          <a:xfrm>
            <a:off x="477324" y="1343263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latin typeface="Freesentation 7 Bold" pitchFamily="2" charset="-127"/>
                <a:ea typeface="Freesentation 7 Bold" pitchFamily="2" charset="-127"/>
              </a:rPr>
              <a:t>세부 정보 차트</a:t>
            </a:r>
            <a:endParaRPr lang="en-US" altLang="ko-KR" sz="2000" b="1" dirty="0">
              <a:latin typeface="Freesentation 7 Bold" pitchFamily="2" charset="-127"/>
              <a:ea typeface="Freesentation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1702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61BEF-E6A0-A58C-EE64-228C12EB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C39AD-FCAA-2C30-C42B-C968EF3EBC87}"/>
              </a:ext>
            </a:extLst>
          </p:cNvPr>
          <p:cNvSpPr txBox="1"/>
          <p:nvPr/>
        </p:nvSpPr>
        <p:spPr>
          <a:xfrm>
            <a:off x="3613816" y="3075057"/>
            <a:ext cx="4964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4000" dirty="0">
                <a:latin typeface="+mj-ea"/>
                <a:ea typeface="+mj-ea"/>
              </a:rPr>
              <a:t>3. 향후 연구 로드맵</a:t>
            </a:r>
            <a:endParaRPr lang="en-US" altLang="ko-KR" sz="4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3767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C38F2-C667-3A17-A869-1FA40AD2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19AB04-641D-A911-9949-37B95B68DC59}"/>
              </a:ext>
            </a:extLst>
          </p:cNvPr>
          <p:cNvSpPr txBox="1"/>
          <p:nvPr/>
        </p:nvSpPr>
        <p:spPr>
          <a:xfrm>
            <a:off x="329183" y="1132149"/>
            <a:ext cx="58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세종대학교 연구 계획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상반기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92EBFD6-D2DA-B1E1-1180-DAF59DBDAD5D}"/>
              </a:ext>
            </a:extLst>
          </p:cNvPr>
          <p:cNvGrpSpPr/>
          <p:nvPr/>
        </p:nvGrpSpPr>
        <p:grpSpPr>
          <a:xfrm>
            <a:off x="329183" y="1760072"/>
            <a:ext cx="5512816" cy="1472078"/>
            <a:chOff x="-6043622" y="2203816"/>
            <a:chExt cx="3142709" cy="77310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D580D27-B0B9-B333-37DF-FC3FE01D0F45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[6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설계 구조 및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강화학습 환경 구성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0B5B9BE7-84A3-8FA6-A3E6-52405AB34596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다족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보행 로봇에 대한 설계 형태 고안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6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족 보행 로봇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URDF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IMU, Height Scanner, </a:t>
              </a:r>
              <a:r>
                <a:rPr lang="en-US" altLang="ko-KR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Contect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Sensor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도입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Addaptive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curriculum (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적응형 커리큘럼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도입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F6690A9-CEE1-7FB2-F6B1-37913B3E5766}"/>
              </a:ext>
            </a:extLst>
          </p:cNvPr>
          <p:cNvGrpSpPr/>
          <p:nvPr/>
        </p:nvGrpSpPr>
        <p:grpSpPr>
          <a:xfrm>
            <a:off x="6096000" y="1760072"/>
            <a:ext cx="5512816" cy="1472078"/>
            <a:chOff x="-6043622" y="2203816"/>
            <a:chExt cx="3142709" cy="77310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4B5FFDE-68D0-B015-A834-D613170B10EE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보행 패턴 생성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인식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3D02DE7A-619F-C5F5-181C-12D7DC7095C4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휴고다이나믹스</a:t>
              </a:r>
              <a:r>
                <a:rPr lang="ko-KR" altLang="en-US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측 피드백에 따른 설계 사양 조정</a:t>
              </a:r>
              <a:endPara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보행 패턴에 대한 </a:t>
              </a:r>
              <a:r>
                <a:rPr lang="en-US" altLang="ko-KR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CPG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생성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Height Scanner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를 사용한 지형 인식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지형에 따른 보행 패턴 변화 적용</a:t>
              </a:r>
              <a:endParaRPr lang="en-US" altLang="ko-KR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51A163A1-BD62-35F8-F522-57D81D78A2CD}"/>
              </a:ext>
            </a:extLst>
          </p:cNvPr>
          <p:cNvGrpSpPr/>
          <p:nvPr/>
        </p:nvGrpSpPr>
        <p:grpSpPr>
          <a:xfrm>
            <a:off x="329182" y="3505201"/>
            <a:ext cx="5512816" cy="1472078"/>
            <a:chOff x="-6043622" y="2203816"/>
            <a:chExt cx="3142709" cy="77310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A7236F70-54A7-7D1B-01E9-8D9EB5FEA237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[8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단계적 강화학습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8F3C7E7-C6C0-8A09-ED9A-CB3E27490871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CPG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기반 다양한 지형에서의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DRL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Anti-</a:t>
              </a:r>
              <a:r>
                <a:rPr lang="en-US" altLang="ko-KR" sz="1300" b="1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flutuation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후진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방향 전환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안전 정지 등 학습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족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원형 몸통 등 다양한 형태의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URDF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4E6211A-B5EA-E944-F053-0027AA60DDEA}"/>
              </a:ext>
            </a:extLst>
          </p:cNvPr>
          <p:cNvGrpSpPr/>
          <p:nvPr/>
        </p:nvGrpSpPr>
        <p:grpSpPr>
          <a:xfrm>
            <a:off x="6095997" y="3505201"/>
            <a:ext cx="5512817" cy="1472078"/>
            <a:chOff x="-6043622" y="2203816"/>
            <a:chExt cx="3142709" cy="77310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38B9A3F-FA06-FB86-AAD4-919417599111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[9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자기력 부착 및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Go2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성능 비교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953BA642-D91B-9972-1D92-805D083E81E7}"/>
                </a:ext>
              </a:extLst>
            </p:cNvPr>
            <p:cNvSpPr/>
            <p:nvPr/>
          </p:nvSpPr>
          <p:spPr>
            <a:xfrm>
              <a:off x="-5123571" y="2203816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발바닥 측 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자기력 구현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및 경사면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수직면에 대한 보행 수행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Teacher-Student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학습 진행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Go2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와의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fluctuation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성능 비교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2F5D23E-CDA3-90ED-71A1-AEF43135F418}"/>
              </a:ext>
            </a:extLst>
          </p:cNvPr>
          <p:cNvGrpSpPr/>
          <p:nvPr/>
        </p:nvGrpSpPr>
        <p:grpSpPr>
          <a:xfrm>
            <a:off x="329182" y="5264150"/>
            <a:ext cx="11279633" cy="1140756"/>
            <a:chOff x="-6043622" y="2203816"/>
            <a:chExt cx="6430217" cy="77310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7E6C7934-8054-3640-3EF1-62A141BCF51E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[10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상반기 데모 수행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E0E7BA0-CCDE-B291-4728-D1996F722E04}"/>
                </a:ext>
              </a:extLst>
            </p:cNvPr>
            <p:cNvSpPr/>
            <p:nvPr/>
          </p:nvSpPr>
          <p:spPr>
            <a:xfrm>
              <a:off x="-5123571" y="2203817"/>
              <a:ext cx="5510166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 상황 점검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학습 성능 향상을 위한 세부 튜닝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하드웨어 설계 사양 피드백 보고서 작성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1A14A6-F72F-FAF0-F1A8-4BDE22493ED1}"/>
              </a:ext>
            </a:extLst>
          </p:cNvPr>
          <p:cNvSpPr txBox="1"/>
          <p:nvPr/>
        </p:nvSpPr>
        <p:spPr>
          <a:xfrm>
            <a:off x="231774" y="293859"/>
            <a:ext cx="346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3.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향후 연구 로드맵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8675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2A421-1291-8FB9-E48B-B2BFC7F18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EDB286-ACA7-1CCD-6793-0EF9F58888AB}"/>
              </a:ext>
            </a:extLst>
          </p:cNvPr>
          <p:cNvSpPr txBox="1"/>
          <p:nvPr/>
        </p:nvSpPr>
        <p:spPr>
          <a:xfrm>
            <a:off x="329183" y="1132149"/>
            <a:ext cx="58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세종대학교 연구 계획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상반기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B8A003C-DBAE-BCEC-14E4-8BC92C734B6C}"/>
              </a:ext>
            </a:extLst>
          </p:cNvPr>
          <p:cNvGrpSpPr/>
          <p:nvPr/>
        </p:nvGrpSpPr>
        <p:grpSpPr>
          <a:xfrm>
            <a:off x="329183" y="1760072"/>
            <a:ext cx="5512816" cy="1472078"/>
            <a:chOff x="-6043622" y="2203816"/>
            <a:chExt cx="3142709" cy="77310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A3FF6549-313F-9B84-E0CB-157AAB427A10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[6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설계 구조 및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강화학습 환경 구성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B9EBF95-FF16-E067-271F-DF0CF6653F62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다족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보행 로봇에 대한 설계 형태 고안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6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족 보행 로봇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URDF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IMU, Height Scanner, </a:t>
              </a:r>
              <a:r>
                <a:rPr lang="en-US" altLang="ko-KR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Contect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Sensor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도입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Addaptive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curriculum (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적응형 커리큘럼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도입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95521A7C-F619-C8F1-33D4-47FDB908B20E}"/>
              </a:ext>
            </a:extLst>
          </p:cNvPr>
          <p:cNvGrpSpPr/>
          <p:nvPr/>
        </p:nvGrpSpPr>
        <p:grpSpPr>
          <a:xfrm>
            <a:off x="6096000" y="1760072"/>
            <a:ext cx="5512816" cy="1472078"/>
            <a:chOff x="-6043622" y="2203816"/>
            <a:chExt cx="3142709" cy="773107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2F805377-4158-793F-5FA7-80FD55177D82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보행 패턴 생성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인식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EE8ADBC-44C6-304B-9CD3-FA341E7D91AB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휴고다이나믹스</a:t>
              </a:r>
              <a:r>
                <a:rPr lang="ko-KR" altLang="en-US" sz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측 피드백에 따른 설계 사양 조정</a:t>
              </a:r>
              <a:endPara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보행 패턴에 대한 </a:t>
              </a:r>
              <a:r>
                <a:rPr lang="en-US" altLang="ko-KR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CPG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생성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Height Scanner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를 사용한 지형 인식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지형에 따른 보행 패턴 변화 적용</a:t>
              </a:r>
              <a:endParaRPr lang="en-US" altLang="ko-KR" sz="13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2" name="Screencast from 2026-06-10 18-46-41">
            <a:hlinkClick r:id="" action="ppaction://media"/>
            <a:extLst>
              <a:ext uri="{FF2B5EF4-FFF2-40B4-BE49-F238E27FC236}">
                <a16:creationId xmlns:a16="http://schemas.microsoft.com/office/drawing/2014/main" id="{3E04C3E6-B80F-1938-3506-19FE16D7E03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-1" r="3236" b="1748"/>
          <a:stretch>
            <a:fillRect/>
          </a:stretch>
        </p:blipFill>
        <p:spPr>
          <a:xfrm>
            <a:off x="539201" y="3387067"/>
            <a:ext cx="5220248" cy="292147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A1B67C9-37DF-BC7F-9236-11158C0635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33" b="27036"/>
          <a:stretch>
            <a:fillRect/>
          </a:stretch>
        </p:blipFill>
        <p:spPr>
          <a:xfrm>
            <a:off x="6904173" y="3398408"/>
            <a:ext cx="4068627" cy="1414927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961A966F-C09C-7618-496C-195C0ACD7EEF}"/>
              </a:ext>
            </a:extLst>
          </p:cNvPr>
          <p:cNvSpPr/>
          <p:nvPr/>
        </p:nvSpPr>
        <p:spPr>
          <a:xfrm>
            <a:off x="8578850" y="4902200"/>
            <a:ext cx="755650" cy="266700"/>
          </a:xfrm>
          <a:prstGeom prst="downArrow">
            <a:avLst/>
          </a:prstGeom>
          <a:solidFill>
            <a:srgbClr val="B01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186215-4478-DDC2-5739-5A8AAA838B9C}"/>
              </a:ext>
            </a:extLst>
          </p:cNvPr>
          <p:cNvSpPr txBox="1"/>
          <p:nvPr/>
        </p:nvSpPr>
        <p:spPr>
          <a:xfrm>
            <a:off x="6480094" y="5256385"/>
            <a:ext cx="5246984" cy="8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CPG(Central Pattern Generator): 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동물이 걷기 위해 척수나 신경계에 각인된 주기적인 운동 리듬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이를 모방하여 각 다리 관절에 기본 주행에 대한 주기적인 보행 신호 생성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72089A-480B-E46C-BB17-DF8D2B9F610F}"/>
              </a:ext>
            </a:extLst>
          </p:cNvPr>
          <p:cNvSpPr txBox="1"/>
          <p:nvPr/>
        </p:nvSpPr>
        <p:spPr>
          <a:xfrm>
            <a:off x="231774" y="293859"/>
            <a:ext cx="346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3.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향후 연구 로드맵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0362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C5F8-3198-A9CA-45A6-1C1D8E53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A8DA63-A975-5536-98CC-EEF4E2CAF6F9}"/>
              </a:ext>
            </a:extLst>
          </p:cNvPr>
          <p:cNvSpPr txBox="1"/>
          <p:nvPr/>
        </p:nvSpPr>
        <p:spPr>
          <a:xfrm>
            <a:off x="329183" y="1132149"/>
            <a:ext cx="58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세종대학교 연구 계획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상반기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3A7791F-F226-7887-A1EB-E695BE1F00A9}"/>
              </a:ext>
            </a:extLst>
          </p:cNvPr>
          <p:cNvGrpSpPr/>
          <p:nvPr/>
        </p:nvGrpSpPr>
        <p:grpSpPr>
          <a:xfrm>
            <a:off x="329183" y="1753773"/>
            <a:ext cx="5512816" cy="1472078"/>
            <a:chOff x="-6043622" y="2203816"/>
            <a:chExt cx="3142709" cy="773107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75E1D19-76AC-DFF4-4D86-2CD85F1DC82D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[8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단계적 강화학습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C5CD103-3761-63C9-5DB3-811DED577264}"/>
                </a:ext>
              </a:extLst>
            </p:cNvPr>
            <p:cNvSpPr/>
            <p:nvPr/>
          </p:nvSpPr>
          <p:spPr>
            <a:xfrm>
              <a:off x="-5123571" y="2203817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CPG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기반 다양한 지형에서의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DRL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Anti-</a:t>
              </a:r>
              <a:r>
                <a:rPr lang="en-US" altLang="ko-KR" sz="1300" b="1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flutuation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후진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방향 전환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안전 정지 등 학습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8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족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원형 몸통 등 다양한 형태의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URDF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구현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DCEE91-5CF4-91D0-19AF-2B3B126EE646}"/>
              </a:ext>
            </a:extLst>
          </p:cNvPr>
          <p:cNvGrpSpPr/>
          <p:nvPr/>
        </p:nvGrpSpPr>
        <p:grpSpPr>
          <a:xfrm>
            <a:off x="6095998" y="1753773"/>
            <a:ext cx="5512817" cy="1472078"/>
            <a:chOff x="-6043622" y="2203816"/>
            <a:chExt cx="3142709" cy="773107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76DBA5A3-AD58-B27F-826F-384CF0FC6C8F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[9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자기력 부착 및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Go2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성능 비교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704B2049-3423-98C4-A982-20D635069943}"/>
                </a:ext>
              </a:extLst>
            </p:cNvPr>
            <p:cNvSpPr/>
            <p:nvPr/>
          </p:nvSpPr>
          <p:spPr>
            <a:xfrm>
              <a:off x="-5123571" y="2203816"/>
              <a:ext cx="2222658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발바닥 측 </a:t>
              </a:r>
              <a:r>
                <a:rPr lang="ko-KR" altLang="en-US" sz="13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자기력 구현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및 경사면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수직면에 대한 보행 수행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Teacher-Student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학습 진행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Go2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와의 </a:t>
              </a:r>
              <a:r>
                <a:rPr lang="en-US" altLang="ko-KR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fluctuation </a:t>
              </a:r>
              <a:r>
                <a:rPr lang="ko-KR" altLang="en-US" sz="13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성능 비교</a:t>
              </a:r>
              <a:endPara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5F45B424-7E0C-014F-FF4F-E3EA438AC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60" y="3429000"/>
            <a:ext cx="5508939" cy="254120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4B43390-46C7-AF2F-F1BE-CED36B33E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3429000"/>
            <a:ext cx="5508939" cy="25158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6BC775-00EB-65B8-19B4-36686DEBE77C}"/>
              </a:ext>
            </a:extLst>
          </p:cNvPr>
          <p:cNvSpPr txBox="1"/>
          <p:nvPr/>
        </p:nvSpPr>
        <p:spPr>
          <a:xfrm>
            <a:off x="231774" y="293859"/>
            <a:ext cx="346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3.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향후 연구 로드맵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386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F0A4-D607-66E3-CD38-BCE22D6E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CD750-5C82-6AD6-A604-E39762D5FDC1}"/>
              </a:ext>
            </a:extLst>
          </p:cNvPr>
          <p:cNvSpPr txBox="1"/>
          <p:nvPr/>
        </p:nvSpPr>
        <p:spPr>
          <a:xfrm>
            <a:off x="329183" y="1132149"/>
            <a:ext cx="58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세종대학교 연구 계획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상반기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F75D093-6B9C-84FF-C717-FACF19926D59}"/>
              </a:ext>
            </a:extLst>
          </p:cNvPr>
          <p:cNvGrpSpPr/>
          <p:nvPr/>
        </p:nvGrpSpPr>
        <p:grpSpPr>
          <a:xfrm>
            <a:off x="329183" y="1838666"/>
            <a:ext cx="11279633" cy="1140756"/>
            <a:chOff x="-6043622" y="2203816"/>
            <a:chExt cx="6430217" cy="773107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BAF153C6-C144-7324-4645-ECF2D0AECD86}"/>
                </a:ext>
              </a:extLst>
            </p:cNvPr>
            <p:cNvSpPr/>
            <p:nvPr/>
          </p:nvSpPr>
          <p:spPr>
            <a:xfrm>
              <a:off x="-6043622" y="2203816"/>
              <a:ext cx="1253088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[10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b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en-US" altLang="ko-KR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: </a:t>
              </a:r>
              <a:r>
                <a:rPr lang="ko-KR" altLang="en-US" sz="1400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상반기 데모 수행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B62E1D7-AD68-EABA-99CF-D67D2AEB1623}"/>
                </a:ext>
              </a:extLst>
            </p:cNvPr>
            <p:cNvSpPr/>
            <p:nvPr/>
          </p:nvSpPr>
          <p:spPr>
            <a:xfrm>
              <a:off x="-5123571" y="2203817"/>
              <a:ext cx="5510166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 상황 점검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및 학습 성능 향상을 위한 세부 튜닝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진행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하드웨어 설계 사양 피드백 보고서 작성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D6C1377A-9ABF-E6AA-FE9E-96CABCE6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12" y="3308680"/>
            <a:ext cx="6096000" cy="2983004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4E631BB-CF4D-372A-200E-0CB661105A5F}"/>
              </a:ext>
            </a:extLst>
          </p:cNvPr>
          <p:cNvSpPr/>
          <p:nvPr/>
        </p:nvSpPr>
        <p:spPr>
          <a:xfrm>
            <a:off x="7272997" y="4413320"/>
            <a:ext cx="506437" cy="773723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E9AD35-BCF6-18D9-741D-4CFD49906117}"/>
              </a:ext>
            </a:extLst>
          </p:cNvPr>
          <p:cNvSpPr txBox="1"/>
          <p:nvPr/>
        </p:nvSpPr>
        <p:spPr>
          <a:xfrm>
            <a:off x="7706732" y="4362913"/>
            <a:ext cx="3423725" cy="87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하드웨어 설계 사양 피드백 </a:t>
            </a:r>
            <a:endParaRPr lang="en-US" altLang="ko-KR" sz="1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8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보고서 작성</a:t>
            </a:r>
            <a:endParaRPr lang="en-US" altLang="ko-KR" sz="18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FFA30C-39F7-F23C-5088-164E85CB5ACA}"/>
              </a:ext>
            </a:extLst>
          </p:cNvPr>
          <p:cNvSpPr txBox="1"/>
          <p:nvPr/>
        </p:nvSpPr>
        <p:spPr>
          <a:xfrm>
            <a:off x="231774" y="293859"/>
            <a:ext cx="346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3.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향후 연구 로드맵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4797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70EC-26B8-D3E6-CB40-68C25A1D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C6F7C-C540-FAD8-6FF5-567401054893}"/>
              </a:ext>
            </a:extLst>
          </p:cNvPr>
          <p:cNvSpPr txBox="1"/>
          <p:nvPr/>
        </p:nvSpPr>
        <p:spPr>
          <a:xfrm>
            <a:off x="329183" y="1132149"/>
            <a:ext cx="582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|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세종대학교 연구 계획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하반기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991FEB5E-4DD2-9437-ED6C-7D5D2C7D0437}"/>
              </a:ext>
            </a:extLst>
          </p:cNvPr>
          <p:cNvGrpSpPr/>
          <p:nvPr/>
        </p:nvGrpSpPr>
        <p:grpSpPr>
          <a:xfrm>
            <a:off x="329182" y="1899772"/>
            <a:ext cx="11310368" cy="589431"/>
            <a:chOff x="-6043623" y="2203816"/>
            <a:chExt cx="12930613" cy="77310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CAACBB7-8041-A0E8-3746-9A1B6F935BBF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[11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1CA6AADE-4C83-CF16-C20C-05F195FEE716}"/>
                </a:ext>
              </a:extLst>
            </p:cNvPr>
            <p:cNvSpPr/>
            <p:nvPr/>
          </p:nvSpPr>
          <p:spPr>
            <a:xfrm>
              <a:off x="-3821943" y="2203816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센서 및 시스템 설계 및 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ROS2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통합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" name="그룹 23">
            <a:extLst>
              <a:ext uri="{FF2B5EF4-FFF2-40B4-BE49-F238E27FC236}">
                <a16:creationId xmlns:a16="http://schemas.microsoft.com/office/drawing/2014/main" id="{16263BF7-E0C3-5B65-C77E-D23487690467}"/>
              </a:ext>
            </a:extLst>
          </p:cNvPr>
          <p:cNvGrpSpPr/>
          <p:nvPr/>
        </p:nvGrpSpPr>
        <p:grpSpPr>
          <a:xfrm>
            <a:off x="329182" y="2667001"/>
            <a:ext cx="11310368" cy="589431"/>
            <a:chOff x="-6043623" y="2203816"/>
            <a:chExt cx="12930613" cy="773107"/>
          </a:xfrm>
        </p:grpSpPr>
        <p:sp>
          <p:nvSpPr>
            <p:cNvPr id="14" name="사각형: 둥근 모서리 7">
              <a:extLst>
                <a:ext uri="{FF2B5EF4-FFF2-40B4-BE49-F238E27FC236}">
                  <a16:creationId xmlns:a16="http://schemas.microsoft.com/office/drawing/2014/main" id="{FCB86B95-D40D-AC71-B2A0-88420B16152D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[12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사각형: 둥근 모서리 12">
              <a:extLst>
                <a:ext uri="{FF2B5EF4-FFF2-40B4-BE49-F238E27FC236}">
                  <a16:creationId xmlns:a16="http://schemas.microsoft.com/office/drawing/2014/main" id="{733702F9-5E87-6EF8-DABC-C34D7A1691D2}"/>
                </a:ext>
              </a:extLst>
            </p:cNvPr>
            <p:cNvSpPr/>
            <p:nvPr/>
          </p:nvSpPr>
          <p:spPr>
            <a:xfrm>
              <a:off x="-3821943" y="2203816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3D Lidar SLAM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알고리즘 개발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6" name="그룹 23">
            <a:extLst>
              <a:ext uri="{FF2B5EF4-FFF2-40B4-BE49-F238E27FC236}">
                <a16:creationId xmlns:a16="http://schemas.microsoft.com/office/drawing/2014/main" id="{BDF5E5AA-9322-DAEF-5424-73BA53AD320B}"/>
              </a:ext>
            </a:extLst>
          </p:cNvPr>
          <p:cNvGrpSpPr/>
          <p:nvPr/>
        </p:nvGrpSpPr>
        <p:grpSpPr>
          <a:xfrm>
            <a:off x="322832" y="3429000"/>
            <a:ext cx="11310368" cy="589431"/>
            <a:chOff x="-6043623" y="2203816"/>
            <a:chExt cx="12930613" cy="773107"/>
          </a:xfrm>
        </p:grpSpPr>
        <p:sp>
          <p:nvSpPr>
            <p:cNvPr id="17" name="사각형: 둥근 모서리 7">
              <a:extLst>
                <a:ext uri="{FF2B5EF4-FFF2-40B4-BE49-F238E27FC236}">
                  <a16:creationId xmlns:a16="http://schemas.microsoft.com/office/drawing/2014/main" id="{73D2BB9B-40A6-8B03-DE05-37DC26E5E1FB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[2027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년 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1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사각형: 둥근 모서리 12">
              <a:extLst>
                <a:ext uri="{FF2B5EF4-FFF2-40B4-BE49-F238E27FC236}">
                  <a16:creationId xmlns:a16="http://schemas.microsoft.com/office/drawing/2014/main" id="{4AEA9D81-3D6A-B465-307D-04C8BD4E5752}"/>
                </a:ext>
              </a:extLst>
            </p:cNvPr>
            <p:cNvSpPr/>
            <p:nvPr/>
          </p:nvSpPr>
          <p:spPr>
            <a:xfrm>
              <a:off x="-3821943" y="2203816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지형 인식 및 </a:t>
              </a:r>
              <a:r>
                <a:rPr lang="en-US" altLang="ko-KR" sz="140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Traversability</a:t>
              </a: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분석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Sim-to-real </a:t>
              </a: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전이 및 시스템 식별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1" name="그룹 23">
            <a:extLst>
              <a:ext uri="{FF2B5EF4-FFF2-40B4-BE49-F238E27FC236}">
                <a16:creationId xmlns:a16="http://schemas.microsoft.com/office/drawing/2014/main" id="{20998D75-607A-94B8-59E3-26CA4E46930E}"/>
              </a:ext>
            </a:extLst>
          </p:cNvPr>
          <p:cNvGrpSpPr/>
          <p:nvPr/>
        </p:nvGrpSpPr>
        <p:grpSpPr>
          <a:xfrm>
            <a:off x="329182" y="4190998"/>
            <a:ext cx="11310368" cy="589432"/>
            <a:chOff x="-6043623" y="2203816"/>
            <a:chExt cx="12930613" cy="773108"/>
          </a:xfrm>
        </p:grpSpPr>
        <p:sp>
          <p:nvSpPr>
            <p:cNvPr id="25" name="사각형: 둥근 모서리 7">
              <a:extLst>
                <a:ext uri="{FF2B5EF4-FFF2-40B4-BE49-F238E27FC236}">
                  <a16:creationId xmlns:a16="http://schemas.microsoft.com/office/drawing/2014/main" id="{4F40FEA6-BEED-5D9E-C429-A40F890818D8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[2027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년 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2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6" name="사각형: 둥근 모서리 12">
              <a:extLst>
                <a:ext uri="{FF2B5EF4-FFF2-40B4-BE49-F238E27FC236}">
                  <a16:creationId xmlns:a16="http://schemas.microsoft.com/office/drawing/2014/main" id="{098DE541-E22C-52B4-F727-C54EF4B0297E}"/>
                </a:ext>
              </a:extLst>
            </p:cNvPr>
            <p:cNvSpPr/>
            <p:nvPr/>
          </p:nvSpPr>
          <p:spPr>
            <a:xfrm>
              <a:off x="-3821943" y="2203818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자율보행 경로 계획 알고리즘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실 로봇 보행제어 통합 및 튜닝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7" name="그룹 23">
            <a:extLst>
              <a:ext uri="{FF2B5EF4-FFF2-40B4-BE49-F238E27FC236}">
                <a16:creationId xmlns:a16="http://schemas.microsoft.com/office/drawing/2014/main" id="{3A2CCE3C-5E5C-C3A4-D60E-1BF7433C43F9}"/>
              </a:ext>
            </a:extLst>
          </p:cNvPr>
          <p:cNvGrpSpPr/>
          <p:nvPr/>
        </p:nvGrpSpPr>
        <p:grpSpPr>
          <a:xfrm>
            <a:off x="329182" y="4952996"/>
            <a:ext cx="11310368" cy="589431"/>
            <a:chOff x="-6043623" y="2203816"/>
            <a:chExt cx="12930613" cy="773107"/>
          </a:xfrm>
        </p:grpSpPr>
        <p:sp>
          <p:nvSpPr>
            <p:cNvPr id="28" name="사각형: 둥근 모서리 7">
              <a:extLst>
                <a:ext uri="{FF2B5EF4-FFF2-40B4-BE49-F238E27FC236}">
                  <a16:creationId xmlns:a16="http://schemas.microsoft.com/office/drawing/2014/main" id="{AF00CEA4-FCAC-99B6-F555-380AA6C743ED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[2027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년 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3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9" name="사각형: 둥근 모서리 12">
              <a:extLst>
                <a:ext uri="{FF2B5EF4-FFF2-40B4-BE49-F238E27FC236}">
                  <a16:creationId xmlns:a16="http://schemas.microsoft.com/office/drawing/2014/main" id="{6976A4BA-CBC3-9725-6941-87C05E52C698}"/>
                </a:ext>
              </a:extLst>
            </p:cNvPr>
            <p:cNvSpPr/>
            <p:nvPr/>
          </p:nvSpPr>
          <p:spPr>
            <a:xfrm>
              <a:off x="-3821943" y="2203816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자기력 부착 보행 기초 검증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4" name="그룹 23">
            <a:extLst>
              <a:ext uri="{FF2B5EF4-FFF2-40B4-BE49-F238E27FC236}">
                <a16:creationId xmlns:a16="http://schemas.microsoft.com/office/drawing/2014/main" id="{A64FE1B3-AAD0-89BD-D403-C90404DDE974}"/>
              </a:ext>
            </a:extLst>
          </p:cNvPr>
          <p:cNvGrpSpPr/>
          <p:nvPr/>
        </p:nvGrpSpPr>
        <p:grpSpPr>
          <a:xfrm>
            <a:off x="322832" y="5725851"/>
            <a:ext cx="11310368" cy="589431"/>
            <a:chOff x="-6043623" y="2203816"/>
            <a:chExt cx="12930613" cy="773107"/>
          </a:xfrm>
        </p:grpSpPr>
        <p:sp>
          <p:nvSpPr>
            <p:cNvPr id="5" name="사각형: 둥근 모서리 7">
              <a:extLst>
                <a:ext uri="{FF2B5EF4-FFF2-40B4-BE49-F238E27FC236}">
                  <a16:creationId xmlns:a16="http://schemas.microsoft.com/office/drawing/2014/main" id="{C0DBCEE1-AE69-7DAD-F94C-FABA79BE0279}"/>
                </a:ext>
              </a:extLst>
            </p:cNvPr>
            <p:cNvSpPr/>
            <p:nvPr/>
          </p:nvSpPr>
          <p:spPr>
            <a:xfrm>
              <a:off x="-6043623" y="2203816"/>
              <a:ext cx="2571082" cy="773107"/>
            </a:xfrm>
            <a:prstGeom prst="roundRect">
              <a:avLst/>
            </a:prstGeom>
            <a:solidFill>
              <a:srgbClr val="B0102E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[2027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년 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4</a:t>
              </a:r>
              <a:r>
                <a:rPr lang="ko-KR" altLang="en-US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월</a:t>
              </a:r>
              <a:r>
                <a:rPr lang="en-US" altLang="ko-KR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]</a:t>
              </a:r>
              <a:endParaRPr lang="en-US" altLang="ko-KR" sz="14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" name="사각형: 둥근 모서리 12">
              <a:extLst>
                <a:ext uri="{FF2B5EF4-FFF2-40B4-BE49-F238E27FC236}">
                  <a16:creationId xmlns:a16="http://schemas.microsoft.com/office/drawing/2014/main" id="{C07F4FFA-0762-6640-9D71-DD2854D44527}"/>
                </a:ext>
              </a:extLst>
            </p:cNvPr>
            <p:cNvSpPr/>
            <p:nvPr/>
          </p:nvSpPr>
          <p:spPr>
            <a:xfrm>
              <a:off x="-3821943" y="2203816"/>
              <a:ext cx="10708933" cy="77310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0102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자율보행 통합 데모 및 성능 검증</a:t>
              </a:r>
              <a:endParaRPr lang="en-US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1ACEBC9-A2AA-7303-4E7D-BA273D1F3C17}"/>
              </a:ext>
            </a:extLst>
          </p:cNvPr>
          <p:cNvSpPr txBox="1"/>
          <p:nvPr/>
        </p:nvSpPr>
        <p:spPr>
          <a:xfrm>
            <a:off x="231774" y="293859"/>
            <a:ext cx="3460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프리젠테이션 8 ExtraBold" pitchFamily="2" charset="-127"/>
                <a:ea typeface="프리젠테이션 8 ExtraBold" pitchFamily="2" charset="-127"/>
              </a:rPr>
              <a:t>3.</a:t>
            </a:r>
            <a:r>
              <a:rPr lang="ko-KR" altLang="en-US" sz="2800" b="1" dirty="0">
                <a:latin typeface="프리젠테이션 8 ExtraBold" pitchFamily="2" charset="-127"/>
                <a:ea typeface="프리젠테이션 8 ExtraBold" pitchFamily="2" charset="-127"/>
              </a:rPr>
              <a:t>향후 연구 로드맵</a:t>
            </a:r>
            <a:endParaRPr lang="en-US" altLang="ko-KR" sz="2800" b="1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301449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프리젠테이션">
      <a:majorFont>
        <a:latin typeface="프리젠테이션 7 Bold"/>
        <a:ea typeface="프리젠테이션 7 Bold"/>
        <a:cs typeface=""/>
      </a:majorFont>
      <a:minorFont>
        <a:latin typeface="프리젠테이션 5 Medium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3957</TotalTime>
  <Words>1724</Words>
  <Application>Microsoft Office PowerPoint</Application>
  <PresentationFormat>와이드스크린</PresentationFormat>
  <Paragraphs>290</Paragraphs>
  <Slides>18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18</vt:i4>
      </vt:variant>
    </vt:vector>
  </HeadingPairs>
  <TitlesOfParts>
    <vt:vector size="31" baseType="lpstr">
      <vt:lpstr>프리젠테이션 6 SemiBold</vt:lpstr>
      <vt:lpstr>Arial</vt:lpstr>
      <vt:lpstr>프리젠테이션 4 Regular</vt:lpstr>
      <vt:lpstr>프리젠테이션 5 Medium</vt:lpstr>
      <vt:lpstr>프리젠테이션 5 Medium</vt:lpstr>
      <vt:lpstr>프리젠테이션 6 SemiBold</vt:lpstr>
      <vt:lpstr>Noto Sans KR</vt:lpstr>
      <vt:lpstr>프리젠테이션 7 Bold</vt:lpstr>
      <vt:lpstr>프리젠테이션 4 Regular</vt:lpstr>
      <vt:lpstr>프리젠테이션 7 Bold</vt:lpstr>
      <vt:lpstr>프리젠테이션 8 ExtraBold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허지윤</dc:creator>
  <cp:lastModifiedBy>나유빈</cp:lastModifiedBy>
  <cp:revision>29</cp:revision>
  <dcterms:created xsi:type="dcterms:W3CDTF">2025-09-22T14:06:56Z</dcterms:created>
  <dcterms:modified xsi:type="dcterms:W3CDTF">2026-06-10T19:24:31Z</dcterms:modified>
</cp:coreProperties>
</file>